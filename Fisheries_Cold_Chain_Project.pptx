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title is the original research objective. What has been delivered is a thermal-exposure research prototype, not a calibrated fish-spoilage predictor. The examples are hypothetical configured routes. This distinction will be explained on slide 11.</a:t>
            </a:r>
          </a:p>
          <a:p/>
          <a:p>
            <a:r>
              <a:t>Evidence / sources:</a:t>
            </a:r>
          </a:p>
          <a:p>
            <a:r>
              <a:t>COMPLETE_README.MD</a:t>
            </a:r>
          </a:p>
          <a:p>
            <a:r>
              <a:t>reports/integration/final_handoff.md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a shipment in everyday language: landing and icing, packing, chilled holding, road transfer, airport handling, international transit and arrival inspection. These are stages of the configured example, not a reconstructed observed shipment. The system also includes a conditional hypothetical sea stress configuration. MPEDA supports Indian export context but its item, market and port tables are separate marginals; they do not prove this specific route.</a:t>
            </a:r>
          </a:p>
          <a:p/>
          <a:p>
            <a:r>
              <a:t>Evidence / sources:</a:t>
            </a:r>
          </a:p>
          <a:p>
            <a:r>
              <a:t>configs/digital_twin/experiment.yaml</a:t>
            </a:r>
          </a:p>
          <a:p>
            <a:r>
              <a:t>reports/digital_twin/final_handoff.md</a:t>
            </a:r>
          </a:p>
          <a:p>
            <a:r>
              <a:t>https://mpeda.gov.in/?page_id=438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Warmer conditions and longer exposure can affect fish quality, but the effect depends on species, product state, initial quality and biological response. This project tests thermal consequences of plausible disruptions. It has not measured these failure frequencies on Indian shipments or quantified resulting spoilage/safety outcomes.</a:t>
            </a:r>
          </a:p>
          <a:p/>
          <a:p>
            <a:r>
              <a:t>Evidence / sources:</a:t>
            </a:r>
          </a:p>
          <a:p>
            <a:r>
              <a:t>reports/digital_twin/final_handoff.md</a:t>
            </a:r>
          </a:p>
          <a:p>
            <a:r>
              <a:t>configs/digital_twin/experiment.yaml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answerable research question is about modeled thermal exposure and stage sensitivity. The longer-term objective is biological prediction. A sensor model alone cannot learn a new temperature response, and thermal exposure alone cannot be presented as spoilage probability.</a:t>
            </a:r>
          </a:p>
          <a:p/>
          <a:p>
            <a:r>
              <a:t>Evidence / sources:</a:t>
            </a:r>
          </a:p>
          <a:p>
            <a:r>
              <a:t>reports/digital_twin/final_handoff.md</a:t>
            </a:r>
          </a:p>
          <a:p>
            <a:r>
              <a:t>reports/integration/final_handoff.md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actual saved screenshot of the implemented Streamlit dashboard, not a mock-up. Users choose route, scenario, temperature source, reference and channel, run a simulation, compare saved scenarios and download results. The simulator is a configured digital-twin prototype, not a live data-connected replica of an observed shipment. The visible product-lag option is assumed, not measured fish-core temperature.</a:t>
            </a:r>
          </a:p>
          <a:p/>
          <a:p>
            <a:r>
              <a:t>Evidence / sources:</a:t>
            </a:r>
          </a:p>
          <a:p>
            <a:r>
              <a:t>app.py</a:t>
            </a:r>
          </a:p>
          <a:p>
            <a:r>
              <a:t>reports/dashboard/final_handoff.md</a:t>
            </a:r>
          </a:p>
          <a:p>
            <a:r>
              <a:t>figures/dashboard/redesign/02_road_failure_desktop.png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curated 27,120 DaFiF readings from 63 workbooks, 774 separate sensory criterion scores, 25,200 trout sensor readings and 21 individual trout TVC assays. Sensor and quality cohorts are different fish; repeated readings are not independent fish. MPEDA has 10,788 annual marginal statistics rows. Proxy tables have 31,140 citrus and 1,411,515 cold-room rows. A separate smoked-catfish study supplies 336 long-format measured endpoint rows; it supports only within-study treatment curves, not fresh-fish kinetics. The model branches are deliberately not fused into a biologically invalid target table. DaFiF source counts and 2,298 local session-label conflicts are documented in the data-quality report; use counted workbook rows, not published descriptions, for totals.</a:t>
            </a:r>
          </a:p>
          <a:p/>
          <a:p>
            <a:r>
              <a:t>Evidence / sources:</a:t>
            </a:r>
          </a:p>
          <a:p>
            <a:r>
              <a:t>reports/data/data_quality_report.md</a:t>
            </a:r>
          </a:p>
          <a:p>
            <a:r>
              <a:t>reports/data/scientific_sufficiency_report.md</a:t>
            </a:r>
          </a:p>
          <a:p>
            <a:r>
              <a:t>https://data.mendeley.com/datasets/vx4ptwk3pb/1</a:t>
            </a:r>
          </a:p>
          <a:p>
            <a:r>
              <a:t>https://zenodo.org/records/23600663</a:t>
            </a:r>
          </a:p>
          <a:p>
            <a:r>
              <a:t>https://mpeda.gov.in/?page_id=438</a:t>
            </a:r>
          </a:p>
          <a:p>
            <a:r>
              <a:t>https://data.mendeley.com/datasets/mvr7m6mcgp/2</a:t>
            </a:r>
          </a:p>
          <a:p>
            <a:r>
              <a:t>https://zenodo.org/records/15130001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simulator carries temperature state through stages using an illustrative first-order response: nominal air lag 0.75 h and assumed product lag 1.5 h. The degree-hour indicator integrates max(temperature minus reference, 0) over time. The simple constant-temperature example gives (5 minus 2) °C × 2 hours = 6 °C·h. This is a teaching example, not a measured shipment or a spoilage threshold. References 2 °C and 4 °C are comparisons, not universal legal or spoilage cutoffs. The current model does not translate degree-hours to biological deterioration. The stable Python API is src.integration.execute; the UI delegates to it rather than implementing separate calculations.</a:t>
            </a:r>
          </a:p>
          <a:p/>
          <a:p>
            <a:r>
              <a:t>Evidence / sources:</a:t>
            </a:r>
          </a:p>
          <a:p>
            <a:r>
              <a:t>reports/digital_twin/final_handoff.md</a:t>
            </a:r>
          </a:p>
          <a:p>
            <a:r>
              <a:t>reports/integration/architecture_and_contracts.md</a:t>
            </a:r>
          </a:p>
          <a:p>
            <a:r>
              <a:t>src/digital_twin/exposure.py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configured air baseline lasts 47 h: landing/icing 3, processing 5, storage 12, road 5, airport 6, flight 12 and destination 4 h. Eight scenarios include baseline, processing delay, storage setpoint, road failure, airport delay/door, flight excursion, destination delay and combined. Combined is 50 h because the airport stage gains 3 h. The sea configuration is a conditional 375 h software stress case with a 14-day voyage and no evidence that chilled fish remains viable. Phase 4 ran 48 route/mode/scenario simulations: 2 routes × 3 modes × 8 scenarios. Only the air synthetic example is foregrounded here to avoid conflating distinct domains.</a:t>
            </a:r>
          </a:p>
          <a:p/>
          <a:p>
            <a:r>
              <a:t>Evidence / sources:</a:t>
            </a:r>
          </a:p>
          <a:p>
            <a:r>
              <a:t>configs/digital_twin/experiment.yaml</a:t>
            </a:r>
          </a:p>
          <a:p>
            <a:r>
              <a:t>configs/digital_twin/sea_route.yaml</a:t>
            </a:r>
          </a:p>
          <a:p>
            <a:r>
              <a:t>reports/integration/final_handoff.md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plotted values are additional simulated-air degree-hours above 2 °C relative to the same synthetic-air route baseline. Road 55.8025, airport 37.3003, storage 24.5202, flight 19.9999, destination 4.4946, processing 2.9993. Baseline total is 15.0455 °C·h; road-failure total is 70.8480. The combined case adds 113.0374 and totals 128.0829 but is excluded from this single-disruption chart. Airport and delay cases have longer durations; differences include added hours. This ranks intervention effects, not exposure physically occurring inside each stage. These indicators are neither spoilage percentages nor causal field estimates.</a:t>
            </a:r>
          </a:p>
          <a:p/>
          <a:p>
            <a:r>
              <a:t>Evidence / sources:</a:t>
            </a:r>
          </a:p>
          <a:p>
            <a:r>
              <a:t>results/integration/scenario_comparison.parquet</a:t>
            </a:r>
          </a:p>
          <a:p>
            <a:r>
              <a:t>reports/integration/scenario_experiments.md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paired assumption exercise varies stage durations ×0.85–1.15, setpoints ±0.5 °C, ambient ±3 °C, air response 0.4–1.2 h, assumed product response 0.75–3 h and event duration ×0.75–1.25. Road is the largest single intervention in 197/200 air draws at 2 °C, 193/200 at 4 °C, and 100/100 sea draws for either reference. Those counts are sensitivity within assumed ranges, not confidence levels or real-world probabilities. Under equal 2 h/+3 °C events, airport and flight each add 6.0 °C·h above 2 °C, while storage adds 2.9018. At 4 °C, the dominant standardized stage changes to destination. The engineering suite also checked deterministic replay, stage-to-route conservation, trace reload, Shapley conservation and numerical step-size sensitivity; the full rebuild passed 41 tests. None of this validates fish biology or field performance.</a:t>
            </a:r>
          </a:p>
          <a:p/>
          <a:p>
            <a:r>
              <a:t>Evidence / sources:</a:t>
            </a:r>
          </a:p>
          <a:p>
            <a:r>
              <a:t>reports/integration/robustness_and_uncertainty.md</a:t>
            </a:r>
          </a:p>
          <a:p>
            <a:r>
              <a:t>reports/integration/stage_ranking_and_attribution.md</a:t>
            </a:r>
          </a:p>
          <a:p>
            <a:r>
              <a:t>reports/setup/final_handoff.md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no validated freshness classifier, fish-specific variable-temperature deterioration model, spoilage probability, shelf-life forecast, food-safety decision or regulatory-compliance engine. The planned Gradient Boosting classifier was not trained because the specimen-level labels are unavailable; saying only “unvalidated” could imply a fitted classifier exists. Phase 2 did produce a separate age-only trout TVC linear model (17 development assays, grouped-CV MAE 0.539 log10 CFU/g). Its three-assay temporal check is post-hoc after a candidate fish overlap was discovered, so no untouched final test exists. Smoked-catfish treatment curves and DaFiF unsupervised clusters also remain separate diagnostics. These are not coupled into the route to claim fish spoilage. The API returns prediction null/NOT_CALIBRATED and explicitly refuses unsupported biological targets.</a:t>
            </a:r>
          </a:p>
          <a:p/>
          <a:p>
            <a:r>
              <a:t>Evidence / sources:</a:t>
            </a:r>
          </a:p>
          <a:p>
            <a:r>
              <a:t>reports/modeling/PHASE_2_FINAL_RESULTS.md</a:t>
            </a:r>
          </a:p>
          <a:p>
            <a:r>
              <a:t>reports/integration/model_capabilities_and_blockers.md</a:t>
            </a:r>
          </a:p>
          <a:p>
            <a:r>
              <a:t>reports/data/scientific_sufficiency_report.md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delivered contribution is an auditable data pipeline, evidence-scoped study diagnostics, configurable thermal simulation, integrated experiment service and actual dashboard. The immediate research upgrade is linked specimen/lot/logger/assay data at multiple product temperatures and independent exporter/route/later-shipment holdouts. A pilot must determine sample size by independent biological lots and outcome rate, not sensor-row count. The dashboard is already delivered; the next task is biological calibration and field evaluation. Publication is a future research step, not an accepted or submitted paper claim. Full information, provenance, metrics, run commands and limitations are in COMPLETE_README.MD.</a:t>
            </a:r>
          </a:p>
          <a:p/>
          <a:p>
            <a:r>
              <a:t>Evidence / sources:</a:t>
            </a:r>
          </a:p>
          <a:p>
            <a:r>
              <a:t>COMPLETE_README.MD</a:t>
            </a:r>
          </a:p>
          <a:p>
            <a:r>
              <a:t>configs/integration/field_linkage_schema.yaml</a:t>
            </a:r>
          </a:p>
          <a:p>
            <a:r>
              <a:t>reports/data/blocked_data_requests.md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F36"/>
        </a:solidFill>
        <a:effectLst/>
      </p:bgPr>
    </p:bg>
    <p:spTree>
      <p:nvGrpSpPr>
        <p:cNvPr id="1" name=""/>
        <p:cNvGrpSpPr/>
        <p:nvPr/>
      </p:nvGrpSpPr>
      <p:grpSpPr/>
      <p:sp>
        <p:nvSpPr>
          <p:cNvPr id="2" name="TextBox 1"/>
          <p:cNvSpPr txBox="1"/>
          <p:nvPr/>
        </p:nvSpPr>
        <p:spPr>
          <a:xfrm>
            <a:off x="594360" y="329184"/>
            <a:ext cx="10058400" cy="274320"/>
          </a:xfrm>
          <a:prstGeom prst="rect">
            <a:avLst/>
          </a:prstGeom>
          <a:noFill/>
        </p:spPr>
        <p:txBody>
          <a:bodyPr wrap="square" lIns="0" rIns="0" tIns="0" bIns="0">
            <a:spAutoFit/>
          </a:bodyPr>
          <a:lstStyle/>
          <a:p>
            <a:pPr algn="l">
              <a:spcAft>
                <a:spcPts val="300"/>
              </a:spcAft>
              <a:defRPr sz="1050" b="1">
                <a:solidFill>
                  <a:srgbClr val="ADBFBE"/>
                </a:solidFill>
                <a:latin typeface="Segoe UI"/>
              </a:defRPr>
            </a:pPr>
            <a:r>
              <a:t>RESEARCH PROJECT</a:t>
            </a:r>
          </a:p>
        </p:txBody>
      </p:sp>
      <p:cxnSp>
        <p:nvCxnSpPr>
          <p:cNvPr id="3" name="Connector 2"/>
          <p:cNvCxnSpPr/>
          <p:nvPr/>
        </p:nvCxnSpPr>
        <p:spPr>
          <a:xfrm>
            <a:off x="594360" y="6382512"/>
            <a:ext cx="11000232" cy="0"/>
          </a:xfrm>
          <a:prstGeom prst="line">
            <a:avLst/>
          </a:prstGeom>
          <a:ln w="10160">
            <a:solidFill>
              <a:srgbClr val="365057"/>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92240"/>
            <a:ext cx="8229600" cy="182880"/>
          </a:xfrm>
          <a:prstGeom prst="rect">
            <a:avLst/>
          </a:prstGeom>
          <a:noFill/>
        </p:spPr>
        <p:txBody>
          <a:bodyPr wrap="square" lIns="0" rIns="0" tIns="0" bIns="0">
            <a:spAutoFit/>
          </a:bodyPr>
          <a:lstStyle/>
          <a:p>
            <a:pPr algn="l">
              <a:spcAft>
                <a:spcPts val="300"/>
              </a:spcAft>
              <a:defRPr sz="900" b="0">
                <a:solidFill>
                  <a:srgbClr val="ADBFBE"/>
                </a:solidFill>
                <a:latin typeface="Segoe UI"/>
              </a:defRPr>
            </a:pPr>
            <a:r>
              <a:t>INDIAN FISHERIES  /  COLD-CHAIN RESEARCH</a:t>
            </a:r>
          </a:p>
        </p:txBody>
      </p:sp>
      <p:sp>
        <p:nvSpPr>
          <p:cNvPr id="5" name="TextBox 4"/>
          <p:cNvSpPr txBox="1"/>
          <p:nvPr/>
        </p:nvSpPr>
        <p:spPr>
          <a:xfrm>
            <a:off x="11018520" y="6464808"/>
            <a:ext cx="566928" cy="228600"/>
          </a:xfrm>
          <a:prstGeom prst="rect">
            <a:avLst/>
          </a:prstGeom>
          <a:noFill/>
        </p:spPr>
        <p:txBody>
          <a:bodyPr wrap="square" lIns="0" rIns="0" tIns="0" bIns="0">
            <a:spAutoFit/>
          </a:bodyPr>
          <a:lstStyle/>
          <a:p>
            <a:pPr algn="r">
              <a:spcAft>
                <a:spcPts val="300"/>
              </a:spcAft>
              <a:defRPr sz="950" b="0">
                <a:solidFill>
                  <a:srgbClr val="ADBFBE"/>
                </a:solidFill>
                <a:latin typeface="Segoe UI"/>
              </a:defRPr>
            </a:pPr>
            <a:r>
              <a:t>01 / 12</a:t>
            </a:r>
          </a:p>
        </p:txBody>
      </p:sp>
      <p:sp>
        <p:nvSpPr>
          <p:cNvPr id="6" name="Rectangle 5"/>
          <p:cNvSpPr/>
          <p:nvPr/>
        </p:nvSpPr>
        <p:spPr>
          <a:xfrm>
            <a:off x="621792" y="1234440"/>
            <a:ext cx="502920" cy="50292"/>
          </a:xfrm>
          <a:prstGeom prst="rect">
            <a:avLst/>
          </a:prstGeom>
          <a:solidFill>
            <a:srgbClr val="50B1B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581912"/>
            <a:ext cx="10927080" cy="2880360"/>
          </a:xfrm>
          <a:prstGeom prst="rect">
            <a:avLst/>
          </a:prstGeom>
          <a:noFill/>
        </p:spPr>
        <p:txBody>
          <a:bodyPr wrap="square" lIns="0" rIns="0" tIns="0" bIns="0">
            <a:spAutoFit/>
          </a:bodyPr>
          <a:lstStyle/>
          <a:p>
            <a:pPr algn="l">
              <a:spcAft>
                <a:spcPts val="300"/>
              </a:spcAft>
              <a:defRPr sz="3900" b="1">
                <a:solidFill>
                  <a:srgbClr val="FFFFFF"/>
                </a:solidFill>
                <a:latin typeface="Segoe UI"/>
              </a:defRPr>
            </a:pPr>
            <a:r>
              <a:t>Digital Twin of Indian Fisheries</a:t>
            </a:r>
          </a:p>
          <a:p>
            <a:pPr algn="l">
              <a:spcAft>
                <a:spcPts val="300"/>
              </a:spcAft>
              <a:defRPr sz="3900" b="1">
                <a:solidFill>
                  <a:srgbClr val="FFFFFF"/>
                </a:solidFill>
                <a:latin typeface="Segoe UI"/>
              </a:defRPr>
            </a:pPr>
            <a:r>
              <a:t>Export Cold Chain for</a:t>
            </a:r>
          </a:p>
          <a:p>
            <a:pPr algn="l">
              <a:spcAft>
                <a:spcPts val="300"/>
              </a:spcAft>
              <a:defRPr sz="3900" b="1">
                <a:solidFill>
                  <a:srgbClr val="FFFFFF"/>
                </a:solidFill>
                <a:latin typeface="Segoe UI"/>
              </a:defRPr>
            </a:pPr>
            <a:r>
              <a:t>Spoilage Risk Prediction</a:t>
            </a:r>
          </a:p>
        </p:txBody>
      </p:sp>
      <p:sp>
        <p:nvSpPr>
          <p:cNvPr id="8" name="TextBox 7"/>
          <p:cNvSpPr txBox="1"/>
          <p:nvPr/>
        </p:nvSpPr>
        <p:spPr>
          <a:xfrm>
            <a:off x="640080" y="4599432"/>
            <a:ext cx="9875520" cy="685800"/>
          </a:xfrm>
          <a:prstGeom prst="rect">
            <a:avLst/>
          </a:prstGeom>
          <a:noFill/>
        </p:spPr>
        <p:txBody>
          <a:bodyPr wrap="square" lIns="0" rIns="0" tIns="0" bIns="0">
            <a:spAutoFit/>
          </a:bodyPr>
          <a:lstStyle/>
          <a:p>
            <a:pPr algn="l">
              <a:spcAft>
                <a:spcPts val="300"/>
              </a:spcAft>
              <a:defRPr sz="2400" b="0">
                <a:solidFill>
                  <a:srgbClr val="C7DCDA"/>
                </a:solidFill>
                <a:latin typeface="Segoe UI"/>
              </a:defRPr>
            </a:pPr>
            <a:r>
              <a:t>Testing where a chilled-fish export journey picks up heat.</a:t>
            </a:r>
          </a:p>
        </p:txBody>
      </p:sp>
      <p:sp>
        <p:nvSpPr>
          <p:cNvPr id="9" name="TextBox 8"/>
          <p:cNvSpPr txBox="1"/>
          <p:nvPr/>
        </p:nvSpPr>
        <p:spPr>
          <a:xfrm>
            <a:off x="640080" y="5760720"/>
            <a:ext cx="10058400" cy="320040"/>
          </a:xfrm>
          <a:prstGeom prst="rect">
            <a:avLst/>
          </a:prstGeom>
          <a:noFill/>
        </p:spPr>
        <p:txBody>
          <a:bodyPr wrap="square" lIns="0" rIns="0" tIns="0" bIns="0">
            <a:spAutoFit/>
          </a:bodyPr>
          <a:lstStyle/>
          <a:p>
            <a:pPr algn="l">
              <a:spcAft>
                <a:spcPts val="300"/>
              </a:spcAft>
              <a:defRPr sz="1100" b="0">
                <a:solidFill>
                  <a:srgbClr val="ADBFBE"/>
                </a:solidFill>
                <a:latin typeface="Segoe UI"/>
              </a:defRPr>
            </a:pPr>
            <a:r>
              <a:t>RESEARCH PROTOTYPE  ·  INDIA → EUROPE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94360" y="329184"/>
            <a:ext cx="10058400" cy="274320"/>
          </a:xfrm>
          <a:prstGeom prst="rect">
            <a:avLst/>
          </a:prstGeom>
          <a:noFill/>
        </p:spPr>
        <p:txBody>
          <a:bodyPr wrap="square" lIns="0" rIns="0" tIns="0" bIns="0">
            <a:spAutoFit/>
          </a:bodyPr>
          <a:lstStyle/>
          <a:p>
            <a:pPr algn="l">
              <a:spcAft>
                <a:spcPts val="300"/>
              </a:spcAft>
              <a:defRPr sz="1050" b="1">
                <a:solidFill>
                  <a:srgbClr val="5B6C72"/>
                </a:solidFill>
                <a:latin typeface="Segoe UI"/>
              </a:defRPr>
            </a:pPr>
            <a:r>
              <a:t>THE PROBLEM</a:t>
            </a:r>
          </a:p>
        </p:txBody>
      </p:sp>
      <p:cxnSp>
        <p:nvCxnSpPr>
          <p:cNvPr id="3" name="Connector 2"/>
          <p:cNvCxnSpPr/>
          <p:nvPr/>
        </p:nvCxnSpPr>
        <p:spPr>
          <a:xfrm>
            <a:off x="594360" y="6382512"/>
            <a:ext cx="11000232" cy="0"/>
          </a:xfrm>
          <a:prstGeom prst="line">
            <a:avLst/>
          </a:prstGeom>
          <a:ln w="1016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92240"/>
            <a:ext cx="8229600" cy="182880"/>
          </a:xfrm>
          <a:prstGeom prst="rect">
            <a:avLst/>
          </a:prstGeom>
          <a:noFill/>
        </p:spPr>
        <p:txBody>
          <a:bodyPr wrap="square" lIns="0" rIns="0" tIns="0" bIns="0">
            <a:spAutoFit/>
          </a:bodyPr>
          <a:lstStyle/>
          <a:p>
            <a:pPr algn="l">
              <a:spcAft>
                <a:spcPts val="300"/>
              </a:spcAft>
              <a:defRPr sz="900" b="0">
                <a:solidFill>
                  <a:srgbClr val="5B6C72"/>
                </a:solidFill>
                <a:latin typeface="Segoe UI"/>
              </a:defRPr>
            </a:pPr>
            <a:r>
              <a:t>INDIAN FISHERIES  /  COLD-CHAIN RESEARCH</a:t>
            </a:r>
          </a:p>
        </p:txBody>
      </p:sp>
      <p:sp>
        <p:nvSpPr>
          <p:cNvPr id="5" name="TextBox 4"/>
          <p:cNvSpPr txBox="1"/>
          <p:nvPr/>
        </p:nvSpPr>
        <p:spPr>
          <a:xfrm>
            <a:off x="11018520" y="6464808"/>
            <a:ext cx="566928" cy="228600"/>
          </a:xfrm>
          <a:prstGeom prst="rect">
            <a:avLst/>
          </a:prstGeom>
          <a:noFill/>
        </p:spPr>
        <p:txBody>
          <a:bodyPr wrap="square" lIns="0" rIns="0" tIns="0" bIns="0">
            <a:spAutoFit/>
          </a:bodyPr>
          <a:lstStyle/>
          <a:p>
            <a:pPr algn="r">
              <a:spcAft>
                <a:spcPts val="300"/>
              </a:spcAft>
              <a:defRPr sz="950" b="0">
                <a:solidFill>
                  <a:srgbClr val="5B6C72"/>
                </a:solidFill>
                <a:latin typeface="Segoe UI"/>
              </a:defRPr>
            </a:pPr>
            <a:r>
              <a:t>02 / 12</a:t>
            </a:r>
          </a:p>
        </p:txBody>
      </p:sp>
      <p:sp>
        <p:nvSpPr>
          <p:cNvPr id="6" name="TextBox 5"/>
          <p:cNvSpPr txBox="1"/>
          <p:nvPr/>
        </p:nvSpPr>
        <p:spPr>
          <a:xfrm>
            <a:off x="594360" y="832104"/>
            <a:ext cx="10927080" cy="1024128"/>
          </a:xfrm>
          <a:prstGeom prst="rect">
            <a:avLst/>
          </a:prstGeom>
          <a:noFill/>
        </p:spPr>
        <p:txBody>
          <a:bodyPr wrap="square" lIns="0" rIns="0" tIns="0" bIns="0">
            <a:spAutoFit/>
          </a:bodyPr>
          <a:lstStyle/>
          <a:p>
            <a:pPr algn="l">
              <a:spcAft>
                <a:spcPts val="300"/>
              </a:spcAft>
              <a:defRPr sz="3300" b="1">
                <a:solidFill>
                  <a:srgbClr val="172F36"/>
                </a:solidFill>
                <a:latin typeface="Segoe UI"/>
              </a:defRPr>
            </a:pPr>
            <a:r>
              <a:t>Fish passes through many hands.</a:t>
            </a:r>
          </a:p>
          <a:p>
            <a:pPr algn="l">
              <a:spcAft>
                <a:spcPts val="300"/>
              </a:spcAft>
              <a:defRPr sz="3300" b="1">
                <a:solidFill>
                  <a:srgbClr val="172F36"/>
                </a:solidFill>
                <a:latin typeface="Segoe UI"/>
              </a:defRPr>
            </a:pPr>
            <a:r>
              <a:t>The cold chain must stay connected.</a:t>
            </a:r>
          </a:p>
        </p:txBody>
      </p:sp>
      <p:sp>
        <p:nvSpPr>
          <p:cNvPr id="7" name="TextBox 6"/>
          <p:cNvSpPr txBox="1"/>
          <p:nvPr/>
        </p:nvSpPr>
        <p:spPr>
          <a:xfrm>
            <a:off x="621792" y="1847088"/>
            <a:ext cx="10607040" cy="566928"/>
          </a:xfrm>
          <a:prstGeom prst="rect">
            <a:avLst/>
          </a:prstGeom>
          <a:noFill/>
        </p:spPr>
        <p:txBody>
          <a:bodyPr wrap="square" lIns="0" rIns="0" tIns="0" bIns="0">
            <a:spAutoFit/>
          </a:bodyPr>
          <a:lstStyle/>
          <a:p>
            <a:pPr algn="l">
              <a:spcAft>
                <a:spcPts val="300"/>
              </a:spcAft>
              <a:defRPr sz="1800" b="0">
                <a:solidFill>
                  <a:srgbClr val="5B6C72"/>
                </a:solidFill>
                <a:latin typeface="Segoe UI"/>
              </a:defRPr>
            </a:pPr>
            <a:r>
              <a:t>An illustrative export journey from India to Europe</a:t>
            </a:r>
          </a:p>
        </p:txBody>
      </p:sp>
      <p:cxnSp>
        <p:nvCxnSpPr>
          <p:cNvPr id="8" name="Connector 7"/>
          <p:cNvCxnSpPr/>
          <p:nvPr/>
        </p:nvCxnSpPr>
        <p:spPr>
          <a:xfrm>
            <a:off x="1143000" y="3200400"/>
            <a:ext cx="9820656" cy="0"/>
          </a:xfrm>
          <a:prstGeom prst="line">
            <a:avLst/>
          </a:prstGeom>
          <a:ln w="27940">
            <a:solidFill>
              <a:srgbClr val="167C88"/>
            </a:solidFill>
          </a:ln>
          <a:effectLst/>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051560" y="3108960"/>
            <a:ext cx="182880" cy="182880"/>
          </a:xfrm>
          <a:prstGeom prst="ellipse">
            <a:avLst/>
          </a:prstGeom>
          <a:solidFill>
            <a:srgbClr val="167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611880"/>
            <a:ext cx="1261872" cy="722376"/>
          </a:xfrm>
          <a:prstGeom prst="rect">
            <a:avLst/>
          </a:prstGeom>
          <a:noFill/>
        </p:spPr>
        <p:txBody>
          <a:bodyPr wrap="square" lIns="0" rIns="0" tIns="0" bIns="0">
            <a:spAutoFit/>
          </a:bodyPr>
          <a:lstStyle/>
          <a:p>
            <a:pPr algn="ctr">
              <a:spcAft>
                <a:spcPts val="300"/>
              </a:spcAft>
              <a:defRPr sz="1750" b="0">
                <a:solidFill>
                  <a:srgbClr val="172F36"/>
                </a:solidFill>
                <a:latin typeface="Segoe UI"/>
              </a:defRPr>
            </a:pPr>
            <a:r>
              <a:t>Landing</a:t>
            </a:r>
          </a:p>
          <a:p>
            <a:pPr algn="ctr">
              <a:spcAft>
                <a:spcPts val="300"/>
              </a:spcAft>
              <a:defRPr sz="1750" b="0">
                <a:solidFill>
                  <a:srgbClr val="172F36"/>
                </a:solidFill>
                <a:latin typeface="Segoe UI"/>
              </a:defRPr>
            </a:pPr>
            <a:r>
              <a:t>and icing</a:t>
            </a:r>
          </a:p>
        </p:txBody>
      </p:sp>
      <p:sp>
        <p:nvSpPr>
          <p:cNvPr id="11" name="Oval 10"/>
          <p:cNvSpPr/>
          <p:nvPr/>
        </p:nvSpPr>
        <p:spPr>
          <a:xfrm>
            <a:off x="2688336" y="3108960"/>
            <a:ext cx="182880" cy="182880"/>
          </a:xfrm>
          <a:prstGeom prst="ellipse">
            <a:avLst/>
          </a:prstGeom>
          <a:solidFill>
            <a:srgbClr val="167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85416" y="3611880"/>
            <a:ext cx="1261872" cy="722376"/>
          </a:xfrm>
          <a:prstGeom prst="rect">
            <a:avLst/>
          </a:prstGeom>
          <a:noFill/>
        </p:spPr>
        <p:txBody>
          <a:bodyPr wrap="square" lIns="0" rIns="0" tIns="0" bIns="0">
            <a:spAutoFit/>
          </a:bodyPr>
          <a:lstStyle/>
          <a:p>
            <a:pPr algn="ctr">
              <a:spcAft>
                <a:spcPts val="300"/>
              </a:spcAft>
              <a:defRPr sz="1750" b="0">
                <a:solidFill>
                  <a:srgbClr val="172F36"/>
                </a:solidFill>
                <a:latin typeface="Segoe UI"/>
              </a:defRPr>
            </a:pPr>
            <a:r>
              <a:t>Processing</a:t>
            </a:r>
          </a:p>
          <a:p>
            <a:pPr algn="ctr">
              <a:spcAft>
                <a:spcPts val="300"/>
              </a:spcAft>
              <a:defRPr sz="1750" b="0">
                <a:solidFill>
                  <a:srgbClr val="172F36"/>
                </a:solidFill>
                <a:latin typeface="Segoe UI"/>
              </a:defRPr>
            </a:pPr>
            <a:r>
              <a:t>and packing</a:t>
            </a:r>
          </a:p>
        </p:txBody>
      </p:sp>
      <p:sp>
        <p:nvSpPr>
          <p:cNvPr id="13" name="Oval 12"/>
          <p:cNvSpPr/>
          <p:nvPr/>
        </p:nvSpPr>
        <p:spPr>
          <a:xfrm>
            <a:off x="4325112" y="3108960"/>
            <a:ext cx="182880" cy="182880"/>
          </a:xfrm>
          <a:prstGeom prst="ellipse">
            <a:avLst/>
          </a:prstGeom>
          <a:solidFill>
            <a:srgbClr val="167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22191" y="3611880"/>
            <a:ext cx="1261872" cy="722376"/>
          </a:xfrm>
          <a:prstGeom prst="rect">
            <a:avLst/>
          </a:prstGeom>
          <a:noFill/>
        </p:spPr>
        <p:txBody>
          <a:bodyPr wrap="square" lIns="0" rIns="0" tIns="0" bIns="0">
            <a:spAutoFit/>
          </a:bodyPr>
          <a:lstStyle/>
          <a:p>
            <a:pPr algn="ctr">
              <a:spcAft>
                <a:spcPts val="300"/>
              </a:spcAft>
              <a:defRPr sz="1750" b="0">
                <a:solidFill>
                  <a:srgbClr val="172F36"/>
                </a:solidFill>
                <a:latin typeface="Segoe UI"/>
              </a:defRPr>
            </a:pPr>
            <a:r>
              <a:t>Cold</a:t>
            </a:r>
          </a:p>
          <a:p>
            <a:pPr algn="ctr">
              <a:spcAft>
                <a:spcPts val="300"/>
              </a:spcAft>
              <a:defRPr sz="1750" b="0">
                <a:solidFill>
                  <a:srgbClr val="172F36"/>
                </a:solidFill>
                <a:latin typeface="Segoe UI"/>
              </a:defRPr>
            </a:pPr>
            <a:r>
              <a:t>storage</a:t>
            </a:r>
          </a:p>
        </p:txBody>
      </p:sp>
      <p:sp>
        <p:nvSpPr>
          <p:cNvPr id="15" name="Oval 14"/>
          <p:cNvSpPr/>
          <p:nvPr/>
        </p:nvSpPr>
        <p:spPr>
          <a:xfrm>
            <a:off x="5961888" y="3108960"/>
            <a:ext cx="182880" cy="182880"/>
          </a:xfrm>
          <a:prstGeom prst="ellipse">
            <a:avLst/>
          </a:prstGeom>
          <a:solidFill>
            <a:srgbClr val="167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58968" y="3611880"/>
            <a:ext cx="1261872" cy="722376"/>
          </a:xfrm>
          <a:prstGeom prst="rect">
            <a:avLst/>
          </a:prstGeom>
          <a:noFill/>
        </p:spPr>
        <p:txBody>
          <a:bodyPr wrap="square" lIns="0" rIns="0" tIns="0" bIns="0">
            <a:spAutoFit/>
          </a:bodyPr>
          <a:lstStyle/>
          <a:p>
            <a:pPr algn="ctr">
              <a:spcAft>
                <a:spcPts val="300"/>
              </a:spcAft>
              <a:defRPr sz="1750" b="0">
                <a:solidFill>
                  <a:srgbClr val="172F36"/>
                </a:solidFill>
                <a:latin typeface="Segoe UI"/>
              </a:defRPr>
            </a:pPr>
            <a:r>
              <a:t>Road</a:t>
            </a:r>
          </a:p>
          <a:p>
            <a:pPr algn="ctr">
              <a:spcAft>
                <a:spcPts val="300"/>
              </a:spcAft>
              <a:defRPr sz="1750" b="0">
                <a:solidFill>
                  <a:srgbClr val="172F36"/>
                </a:solidFill>
                <a:latin typeface="Segoe UI"/>
              </a:defRPr>
            </a:pPr>
            <a:r>
              <a:t>transfer</a:t>
            </a:r>
          </a:p>
        </p:txBody>
      </p:sp>
      <p:sp>
        <p:nvSpPr>
          <p:cNvPr id="17" name="Oval 16"/>
          <p:cNvSpPr/>
          <p:nvPr/>
        </p:nvSpPr>
        <p:spPr>
          <a:xfrm>
            <a:off x="7598664" y="3108960"/>
            <a:ext cx="182880" cy="182880"/>
          </a:xfrm>
          <a:prstGeom prst="ellipse">
            <a:avLst/>
          </a:prstGeom>
          <a:solidFill>
            <a:srgbClr val="167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95744" y="3611880"/>
            <a:ext cx="1261872" cy="722376"/>
          </a:xfrm>
          <a:prstGeom prst="rect">
            <a:avLst/>
          </a:prstGeom>
          <a:noFill/>
        </p:spPr>
        <p:txBody>
          <a:bodyPr wrap="square" lIns="0" rIns="0" tIns="0" bIns="0">
            <a:spAutoFit/>
          </a:bodyPr>
          <a:lstStyle/>
          <a:p>
            <a:pPr algn="ctr">
              <a:spcAft>
                <a:spcPts val="300"/>
              </a:spcAft>
              <a:defRPr sz="1750" b="0">
                <a:solidFill>
                  <a:srgbClr val="172F36"/>
                </a:solidFill>
                <a:latin typeface="Segoe UI"/>
              </a:defRPr>
            </a:pPr>
            <a:r>
              <a:t>Airport</a:t>
            </a:r>
          </a:p>
          <a:p>
            <a:pPr algn="ctr">
              <a:spcAft>
                <a:spcPts val="300"/>
              </a:spcAft>
              <a:defRPr sz="1750" b="0">
                <a:solidFill>
                  <a:srgbClr val="172F36"/>
                </a:solidFill>
                <a:latin typeface="Segoe UI"/>
              </a:defRPr>
            </a:pPr>
            <a:r>
              <a:t>handling</a:t>
            </a:r>
          </a:p>
        </p:txBody>
      </p:sp>
      <p:sp>
        <p:nvSpPr>
          <p:cNvPr id="19" name="Oval 18"/>
          <p:cNvSpPr/>
          <p:nvPr/>
        </p:nvSpPr>
        <p:spPr>
          <a:xfrm>
            <a:off x="9235440" y="3108960"/>
            <a:ext cx="182880" cy="182880"/>
          </a:xfrm>
          <a:prstGeom prst="ellipse">
            <a:avLst/>
          </a:prstGeom>
          <a:solidFill>
            <a:srgbClr val="167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32519" y="3611880"/>
            <a:ext cx="1261872" cy="722376"/>
          </a:xfrm>
          <a:prstGeom prst="rect">
            <a:avLst/>
          </a:prstGeom>
          <a:noFill/>
        </p:spPr>
        <p:txBody>
          <a:bodyPr wrap="square" lIns="0" rIns="0" tIns="0" bIns="0">
            <a:spAutoFit/>
          </a:bodyPr>
          <a:lstStyle/>
          <a:p>
            <a:pPr algn="ctr">
              <a:spcAft>
                <a:spcPts val="300"/>
              </a:spcAft>
              <a:defRPr sz="1750" b="0">
                <a:solidFill>
                  <a:srgbClr val="172F36"/>
                </a:solidFill>
                <a:latin typeface="Segoe UI"/>
              </a:defRPr>
            </a:pPr>
            <a:r>
              <a:t>Air</a:t>
            </a:r>
          </a:p>
          <a:p>
            <a:pPr algn="ctr">
              <a:spcAft>
                <a:spcPts val="300"/>
              </a:spcAft>
              <a:defRPr sz="1750" b="0">
                <a:solidFill>
                  <a:srgbClr val="172F36"/>
                </a:solidFill>
                <a:latin typeface="Segoe UI"/>
              </a:defRPr>
            </a:pPr>
            <a:r>
              <a:t>transport</a:t>
            </a:r>
          </a:p>
        </p:txBody>
      </p:sp>
      <p:sp>
        <p:nvSpPr>
          <p:cNvPr id="21" name="Oval 20"/>
          <p:cNvSpPr/>
          <p:nvPr/>
        </p:nvSpPr>
        <p:spPr>
          <a:xfrm>
            <a:off x="10872216" y="3108960"/>
            <a:ext cx="182880" cy="182880"/>
          </a:xfrm>
          <a:prstGeom prst="ellipse">
            <a:avLst/>
          </a:prstGeom>
          <a:solidFill>
            <a:srgbClr val="167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69296" y="3611880"/>
            <a:ext cx="1261872" cy="722376"/>
          </a:xfrm>
          <a:prstGeom prst="rect">
            <a:avLst/>
          </a:prstGeom>
          <a:noFill/>
        </p:spPr>
        <p:txBody>
          <a:bodyPr wrap="square" lIns="0" rIns="0" tIns="0" bIns="0">
            <a:spAutoFit/>
          </a:bodyPr>
          <a:lstStyle/>
          <a:p>
            <a:pPr algn="ctr">
              <a:spcAft>
                <a:spcPts val="300"/>
              </a:spcAft>
              <a:defRPr sz="1750" b="0">
                <a:solidFill>
                  <a:srgbClr val="172F36"/>
                </a:solidFill>
                <a:latin typeface="Segoe UI"/>
              </a:defRPr>
            </a:pPr>
            <a:r>
              <a:t>Arrival</a:t>
            </a:r>
          </a:p>
          <a:p>
            <a:pPr algn="ctr">
              <a:spcAft>
                <a:spcPts val="300"/>
              </a:spcAft>
              <a:defRPr sz="1750" b="0">
                <a:solidFill>
                  <a:srgbClr val="172F36"/>
                </a:solidFill>
                <a:latin typeface="Segoe UI"/>
              </a:defRPr>
            </a:pPr>
            <a:r>
              <a:t>inspection</a:t>
            </a:r>
          </a:p>
        </p:txBody>
      </p:sp>
      <p:sp>
        <p:nvSpPr>
          <p:cNvPr id="23" name="TextBox 22"/>
          <p:cNvSpPr txBox="1"/>
          <p:nvPr/>
        </p:nvSpPr>
        <p:spPr>
          <a:xfrm>
            <a:off x="658368" y="5138928"/>
            <a:ext cx="10881360" cy="594360"/>
          </a:xfrm>
          <a:prstGeom prst="rect">
            <a:avLst/>
          </a:prstGeom>
          <a:noFill/>
        </p:spPr>
        <p:txBody>
          <a:bodyPr wrap="square" lIns="0" rIns="0" tIns="0" bIns="0">
            <a:spAutoFit/>
          </a:bodyPr>
          <a:lstStyle/>
          <a:p>
            <a:pPr algn="l">
              <a:spcAft>
                <a:spcPts val="300"/>
              </a:spcAft>
              <a:defRPr sz="2500" b="0">
                <a:solidFill>
                  <a:srgbClr val="172F36"/>
                </a:solidFill>
                <a:latin typeface="Segoe UI"/>
              </a:defRPr>
            </a:pPr>
            <a:r>
              <a:t>Each handover can change the time spent in warm conditions.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94360" y="329184"/>
            <a:ext cx="10058400" cy="274320"/>
          </a:xfrm>
          <a:prstGeom prst="rect">
            <a:avLst/>
          </a:prstGeom>
          <a:noFill/>
        </p:spPr>
        <p:txBody>
          <a:bodyPr wrap="square" lIns="0" rIns="0" tIns="0" bIns="0">
            <a:spAutoFit/>
          </a:bodyPr>
          <a:lstStyle/>
          <a:p>
            <a:pPr algn="l">
              <a:spcAft>
                <a:spcPts val="300"/>
              </a:spcAft>
              <a:defRPr sz="1050" b="1">
                <a:solidFill>
                  <a:srgbClr val="5B6C72"/>
                </a:solidFill>
                <a:latin typeface="Segoe UI"/>
              </a:defRPr>
            </a:pPr>
            <a:r>
              <a:t>THE PROBLEM</a:t>
            </a:r>
          </a:p>
        </p:txBody>
      </p:sp>
      <p:cxnSp>
        <p:nvCxnSpPr>
          <p:cNvPr id="3" name="Connector 2"/>
          <p:cNvCxnSpPr/>
          <p:nvPr/>
        </p:nvCxnSpPr>
        <p:spPr>
          <a:xfrm>
            <a:off x="594360" y="6382512"/>
            <a:ext cx="11000232" cy="0"/>
          </a:xfrm>
          <a:prstGeom prst="line">
            <a:avLst/>
          </a:prstGeom>
          <a:ln w="1016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92240"/>
            <a:ext cx="8229600" cy="182880"/>
          </a:xfrm>
          <a:prstGeom prst="rect">
            <a:avLst/>
          </a:prstGeom>
          <a:noFill/>
        </p:spPr>
        <p:txBody>
          <a:bodyPr wrap="square" lIns="0" rIns="0" tIns="0" bIns="0">
            <a:spAutoFit/>
          </a:bodyPr>
          <a:lstStyle/>
          <a:p>
            <a:pPr algn="l">
              <a:spcAft>
                <a:spcPts val="300"/>
              </a:spcAft>
              <a:defRPr sz="900" b="0">
                <a:solidFill>
                  <a:srgbClr val="5B6C72"/>
                </a:solidFill>
                <a:latin typeface="Segoe UI"/>
              </a:defRPr>
            </a:pPr>
            <a:r>
              <a:t>INDIAN FISHERIES  /  COLD-CHAIN RESEARCH</a:t>
            </a:r>
          </a:p>
        </p:txBody>
      </p:sp>
      <p:sp>
        <p:nvSpPr>
          <p:cNvPr id="5" name="TextBox 4"/>
          <p:cNvSpPr txBox="1"/>
          <p:nvPr/>
        </p:nvSpPr>
        <p:spPr>
          <a:xfrm>
            <a:off x="11018520" y="6464808"/>
            <a:ext cx="566928" cy="228600"/>
          </a:xfrm>
          <a:prstGeom prst="rect">
            <a:avLst/>
          </a:prstGeom>
          <a:noFill/>
        </p:spPr>
        <p:txBody>
          <a:bodyPr wrap="square" lIns="0" rIns="0" tIns="0" bIns="0">
            <a:spAutoFit/>
          </a:bodyPr>
          <a:lstStyle/>
          <a:p>
            <a:pPr algn="r">
              <a:spcAft>
                <a:spcPts val="300"/>
              </a:spcAft>
              <a:defRPr sz="950" b="0">
                <a:solidFill>
                  <a:srgbClr val="5B6C72"/>
                </a:solidFill>
                <a:latin typeface="Segoe UI"/>
              </a:defRPr>
            </a:pPr>
            <a:r>
              <a:t>03 / 12</a:t>
            </a:r>
          </a:p>
        </p:txBody>
      </p:sp>
      <p:sp>
        <p:nvSpPr>
          <p:cNvPr id="6" name="TextBox 5"/>
          <p:cNvSpPr txBox="1"/>
          <p:nvPr/>
        </p:nvSpPr>
        <p:spPr>
          <a:xfrm>
            <a:off x="594360" y="832104"/>
            <a:ext cx="10927080" cy="1024128"/>
          </a:xfrm>
          <a:prstGeom prst="rect">
            <a:avLst/>
          </a:prstGeom>
          <a:noFill/>
        </p:spPr>
        <p:txBody>
          <a:bodyPr wrap="square" lIns="0" rIns="0" tIns="0" bIns="0">
            <a:spAutoFit/>
          </a:bodyPr>
          <a:lstStyle/>
          <a:p>
            <a:pPr algn="l">
              <a:spcAft>
                <a:spcPts val="300"/>
              </a:spcAft>
              <a:defRPr sz="3300" b="1">
                <a:solidFill>
                  <a:srgbClr val="172F36"/>
                </a:solidFill>
                <a:latin typeface="Segoe UI"/>
              </a:defRPr>
            </a:pPr>
            <a:r>
              <a:t>Small disruptions can add heat.</a:t>
            </a:r>
          </a:p>
        </p:txBody>
      </p:sp>
      <p:sp>
        <p:nvSpPr>
          <p:cNvPr id="7" name="TextBox 6"/>
          <p:cNvSpPr txBox="1"/>
          <p:nvPr/>
        </p:nvSpPr>
        <p:spPr>
          <a:xfrm>
            <a:off x="621792" y="1847088"/>
            <a:ext cx="10607040" cy="566928"/>
          </a:xfrm>
          <a:prstGeom prst="rect">
            <a:avLst/>
          </a:prstGeom>
          <a:noFill/>
        </p:spPr>
        <p:txBody>
          <a:bodyPr wrap="square" lIns="0" rIns="0" tIns="0" bIns="0">
            <a:spAutoFit/>
          </a:bodyPr>
          <a:lstStyle/>
          <a:p>
            <a:pPr algn="l">
              <a:spcAft>
                <a:spcPts val="300"/>
              </a:spcAft>
              <a:defRPr sz="1800" b="0">
                <a:solidFill>
                  <a:srgbClr val="5B6C72"/>
                </a:solidFill>
                <a:latin typeface="Segoe UI"/>
              </a:defRPr>
            </a:pPr>
            <a:r>
              <a:t>Temperature and time both matter across the journey.</a:t>
            </a:r>
          </a:p>
        </p:txBody>
      </p:sp>
      <p:sp>
        <p:nvSpPr>
          <p:cNvPr id="8" name="Rectangle 7"/>
          <p:cNvSpPr/>
          <p:nvPr/>
        </p:nvSpPr>
        <p:spPr>
          <a:xfrm>
            <a:off x="685800" y="2724912"/>
            <a:ext cx="64008" cy="795528"/>
          </a:xfrm>
          <a:prstGeom prst="rect">
            <a:avLst/>
          </a:prstGeom>
          <a:solidFill>
            <a:srgbClr val="167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88336"/>
            <a:ext cx="4617720" cy="411480"/>
          </a:xfrm>
          <a:prstGeom prst="rect">
            <a:avLst/>
          </a:prstGeom>
          <a:noFill/>
        </p:spPr>
        <p:txBody>
          <a:bodyPr wrap="square" lIns="0" rIns="0" tIns="0" bIns="0">
            <a:spAutoFit/>
          </a:bodyPr>
          <a:lstStyle/>
          <a:p>
            <a:pPr algn="l">
              <a:spcAft>
                <a:spcPts val="300"/>
              </a:spcAft>
              <a:defRPr sz="2500" b="1">
                <a:solidFill>
                  <a:srgbClr val="172F36"/>
                </a:solidFill>
                <a:latin typeface="Segoe UI"/>
              </a:defRPr>
            </a:pPr>
            <a:r>
              <a:t>Cooling stops</a:t>
            </a:r>
          </a:p>
        </p:txBody>
      </p:sp>
      <p:sp>
        <p:nvSpPr>
          <p:cNvPr id="10" name="TextBox 9"/>
          <p:cNvSpPr txBox="1"/>
          <p:nvPr/>
        </p:nvSpPr>
        <p:spPr>
          <a:xfrm>
            <a:off x="914400" y="3227832"/>
            <a:ext cx="4480560" cy="640080"/>
          </a:xfrm>
          <a:prstGeom prst="rect">
            <a:avLst/>
          </a:prstGeom>
          <a:noFill/>
        </p:spPr>
        <p:txBody>
          <a:bodyPr wrap="square" lIns="0" rIns="0" tIns="0" bIns="0">
            <a:spAutoFit/>
          </a:bodyPr>
          <a:lstStyle/>
          <a:p>
            <a:pPr algn="l">
              <a:spcAft>
                <a:spcPts val="300"/>
              </a:spcAft>
              <a:defRPr sz="1800" b="0">
                <a:solidFill>
                  <a:srgbClr val="5B6C72"/>
                </a:solidFill>
                <a:latin typeface="Segoe UI"/>
              </a:defRPr>
            </a:pPr>
            <a:r>
              <a:t>A refrigerated vehicle loses cooling.</a:t>
            </a:r>
          </a:p>
        </p:txBody>
      </p:sp>
      <p:sp>
        <p:nvSpPr>
          <p:cNvPr id="11" name="Rectangle 10"/>
          <p:cNvSpPr/>
          <p:nvPr/>
        </p:nvSpPr>
        <p:spPr>
          <a:xfrm>
            <a:off x="6400800" y="2724912"/>
            <a:ext cx="64008" cy="795528"/>
          </a:xfrm>
          <a:prstGeom prst="rect">
            <a:avLst/>
          </a:prstGeom>
          <a:solidFill>
            <a:srgbClr val="167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2688336"/>
            <a:ext cx="4617720" cy="411480"/>
          </a:xfrm>
          <a:prstGeom prst="rect">
            <a:avLst/>
          </a:prstGeom>
          <a:noFill/>
        </p:spPr>
        <p:txBody>
          <a:bodyPr wrap="square" lIns="0" rIns="0" tIns="0" bIns="0">
            <a:spAutoFit/>
          </a:bodyPr>
          <a:lstStyle/>
          <a:p>
            <a:pPr algn="l">
              <a:spcAft>
                <a:spcPts val="300"/>
              </a:spcAft>
              <a:defRPr sz="2500" b="1">
                <a:solidFill>
                  <a:srgbClr val="172F36"/>
                </a:solidFill>
                <a:latin typeface="Segoe UI"/>
              </a:defRPr>
            </a:pPr>
            <a:r>
              <a:t>Handling takes longer</a:t>
            </a:r>
          </a:p>
        </p:txBody>
      </p:sp>
      <p:sp>
        <p:nvSpPr>
          <p:cNvPr id="13" name="TextBox 12"/>
          <p:cNvSpPr txBox="1"/>
          <p:nvPr/>
        </p:nvSpPr>
        <p:spPr>
          <a:xfrm>
            <a:off x="6629400" y="3227832"/>
            <a:ext cx="4480560" cy="640080"/>
          </a:xfrm>
          <a:prstGeom prst="rect">
            <a:avLst/>
          </a:prstGeom>
          <a:noFill/>
        </p:spPr>
        <p:txBody>
          <a:bodyPr wrap="square" lIns="0" rIns="0" tIns="0" bIns="0">
            <a:spAutoFit/>
          </a:bodyPr>
          <a:lstStyle/>
          <a:p>
            <a:pPr algn="l">
              <a:spcAft>
                <a:spcPts val="300"/>
              </a:spcAft>
              <a:defRPr sz="1800" b="0">
                <a:solidFill>
                  <a:srgbClr val="5B6C72"/>
                </a:solidFill>
                <a:latin typeface="Segoe UI"/>
              </a:defRPr>
            </a:pPr>
            <a:r>
              <a:t>Fish waits during loading or inspection.</a:t>
            </a:r>
          </a:p>
        </p:txBody>
      </p:sp>
      <p:sp>
        <p:nvSpPr>
          <p:cNvPr id="14" name="Rectangle 13"/>
          <p:cNvSpPr/>
          <p:nvPr/>
        </p:nvSpPr>
        <p:spPr>
          <a:xfrm>
            <a:off x="685800" y="4343400"/>
            <a:ext cx="64008" cy="795528"/>
          </a:xfrm>
          <a:prstGeom prst="rect">
            <a:avLst/>
          </a:prstGeom>
          <a:solidFill>
            <a:srgbClr val="167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306824"/>
            <a:ext cx="4617720" cy="411480"/>
          </a:xfrm>
          <a:prstGeom prst="rect">
            <a:avLst/>
          </a:prstGeom>
          <a:noFill/>
        </p:spPr>
        <p:txBody>
          <a:bodyPr wrap="square" lIns="0" rIns="0" tIns="0" bIns="0">
            <a:spAutoFit/>
          </a:bodyPr>
          <a:lstStyle/>
          <a:p>
            <a:pPr algn="l">
              <a:spcAft>
                <a:spcPts val="300"/>
              </a:spcAft>
              <a:defRPr sz="2500" b="1">
                <a:solidFill>
                  <a:srgbClr val="172F36"/>
                </a:solidFill>
                <a:latin typeface="Segoe UI"/>
              </a:defRPr>
            </a:pPr>
            <a:r>
              <a:t>Doors stay open</a:t>
            </a:r>
          </a:p>
        </p:txBody>
      </p:sp>
      <p:sp>
        <p:nvSpPr>
          <p:cNvPr id="16" name="TextBox 15"/>
          <p:cNvSpPr txBox="1"/>
          <p:nvPr/>
        </p:nvSpPr>
        <p:spPr>
          <a:xfrm>
            <a:off x="914400" y="4846320"/>
            <a:ext cx="4480560" cy="640080"/>
          </a:xfrm>
          <a:prstGeom prst="rect">
            <a:avLst/>
          </a:prstGeom>
          <a:noFill/>
        </p:spPr>
        <p:txBody>
          <a:bodyPr wrap="square" lIns="0" rIns="0" tIns="0" bIns="0">
            <a:spAutoFit/>
          </a:bodyPr>
          <a:lstStyle/>
          <a:p>
            <a:pPr algn="l">
              <a:spcAft>
                <a:spcPts val="300"/>
              </a:spcAft>
              <a:defRPr sz="1800" b="0">
                <a:solidFill>
                  <a:srgbClr val="5B6C72"/>
                </a:solidFill>
                <a:latin typeface="Segoe UI"/>
              </a:defRPr>
            </a:pPr>
            <a:r>
              <a:t>Warm air enters a chilled space.</a:t>
            </a:r>
          </a:p>
        </p:txBody>
      </p:sp>
      <p:sp>
        <p:nvSpPr>
          <p:cNvPr id="17" name="Rectangle 16"/>
          <p:cNvSpPr/>
          <p:nvPr/>
        </p:nvSpPr>
        <p:spPr>
          <a:xfrm>
            <a:off x="6400800" y="4343400"/>
            <a:ext cx="64008" cy="795528"/>
          </a:xfrm>
          <a:prstGeom prst="rect">
            <a:avLst/>
          </a:prstGeom>
          <a:solidFill>
            <a:srgbClr val="167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4306824"/>
            <a:ext cx="4617720" cy="411480"/>
          </a:xfrm>
          <a:prstGeom prst="rect">
            <a:avLst/>
          </a:prstGeom>
          <a:noFill/>
        </p:spPr>
        <p:txBody>
          <a:bodyPr wrap="square" lIns="0" rIns="0" tIns="0" bIns="0">
            <a:spAutoFit/>
          </a:bodyPr>
          <a:lstStyle/>
          <a:p>
            <a:pPr algn="l">
              <a:spcAft>
                <a:spcPts val="300"/>
              </a:spcAft>
              <a:defRPr sz="2500" b="1">
                <a:solidFill>
                  <a:srgbClr val="172F36"/>
                </a:solidFill>
                <a:latin typeface="Segoe UI"/>
              </a:defRPr>
            </a:pPr>
            <a:r>
              <a:t>Setpoints rise</a:t>
            </a:r>
          </a:p>
        </p:txBody>
      </p:sp>
      <p:sp>
        <p:nvSpPr>
          <p:cNvPr id="19" name="TextBox 18"/>
          <p:cNvSpPr txBox="1"/>
          <p:nvPr/>
        </p:nvSpPr>
        <p:spPr>
          <a:xfrm>
            <a:off x="6629400" y="4846320"/>
            <a:ext cx="4480560" cy="640080"/>
          </a:xfrm>
          <a:prstGeom prst="rect">
            <a:avLst/>
          </a:prstGeom>
          <a:noFill/>
        </p:spPr>
        <p:txBody>
          <a:bodyPr wrap="square" lIns="0" rIns="0" tIns="0" bIns="0">
            <a:spAutoFit/>
          </a:bodyPr>
          <a:lstStyle/>
          <a:p>
            <a:pPr algn="l">
              <a:spcAft>
                <a:spcPts val="300"/>
              </a:spcAft>
              <a:defRPr sz="1800" b="0">
                <a:solidFill>
                  <a:srgbClr val="5B6C72"/>
                </a:solidFill>
                <a:latin typeface="Segoe UI"/>
              </a:defRPr>
            </a:pPr>
            <a:r>
              <a:t>Storage or transport runs warmer.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94360" y="329184"/>
            <a:ext cx="10058400" cy="274320"/>
          </a:xfrm>
          <a:prstGeom prst="rect">
            <a:avLst/>
          </a:prstGeom>
          <a:noFill/>
        </p:spPr>
        <p:txBody>
          <a:bodyPr wrap="square" lIns="0" rIns="0" tIns="0" bIns="0">
            <a:spAutoFit/>
          </a:bodyPr>
          <a:lstStyle/>
          <a:p>
            <a:pPr algn="l">
              <a:spcAft>
                <a:spcPts val="300"/>
              </a:spcAft>
              <a:defRPr sz="1050" b="1">
                <a:solidFill>
                  <a:srgbClr val="5B6C72"/>
                </a:solidFill>
                <a:latin typeface="Segoe UI"/>
              </a:defRPr>
            </a:pPr>
            <a:r>
              <a:t>RESEARCH QUESTION</a:t>
            </a:r>
          </a:p>
        </p:txBody>
      </p:sp>
      <p:cxnSp>
        <p:nvCxnSpPr>
          <p:cNvPr id="3" name="Connector 2"/>
          <p:cNvCxnSpPr/>
          <p:nvPr/>
        </p:nvCxnSpPr>
        <p:spPr>
          <a:xfrm>
            <a:off x="594360" y="6382512"/>
            <a:ext cx="11000232" cy="0"/>
          </a:xfrm>
          <a:prstGeom prst="line">
            <a:avLst/>
          </a:prstGeom>
          <a:ln w="1016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92240"/>
            <a:ext cx="8229600" cy="182880"/>
          </a:xfrm>
          <a:prstGeom prst="rect">
            <a:avLst/>
          </a:prstGeom>
          <a:noFill/>
        </p:spPr>
        <p:txBody>
          <a:bodyPr wrap="square" lIns="0" rIns="0" tIns="0" bIns="0">
            <a:spAutoFit/>
          </a:bodyPr>
          <a:lstStyle/>
          <a:p>
            <a:pPr algn="l">
              <a:spcAft>
                <a:spcPts val="300"/>
              </a:spcAft>
              <a:defRPr sz="900" b="0">
                <a:solidFill>
                  <a:srgbClr val="5B6C72"/>
                </a:solidFill>
                <a:latin typeface="Segoe UI"/>
              </a:defRPr>
            </a:pPr>
            <a:r>
              <a:t>INDIAN FISHERIES  /  COLD-CHAIN RESEARCH</a:t>
            </a:r>
          </a:p>
        </p:txBody>
      </p:sp>
      <p:sp>
        <p:nvSpPr>
          <p:cNvPr id="5" name="TextBox 4"/>
          <p:cNvSpPr txBox="1"/>
          <p:nvPr/>
        </p:nvSpPr>
        <p:spPr>
          <a:xfrm>
            <a:off x="11018520" y="6464808"/>
            <a:ext cx="566928" cy="228600"/>
          </a:xfrm>
          <a:prstGeom prst="rect">
            <a:avLst/>
          </a:prstGeom>
          <a:noFill/>
        </p:spPr>
        <p:txBody>
          <a:bodyPr wrap="square" lIns="0" rIns="0" tIns="0" bIns="0">
            <a:spAutoFit/>
          </a:bodyPr>
          <a:lstStyle/>
          <a:p>
            <a:pPr algn="r">
              <a:spcAft>
                <a:spcPts val="300"/>
              </a:spcAft>
              <a:defRPr sz="950" b="0">
                <a:solidFill>
                  <a:srgbClr val="5B6C72"/>
                </a:solidFill>
                <a:latin typeface="Segoe UI"/>
              </a:defRPr>
            </a:pPr>
            <a:r>
              <a:t>04 / 12</a:t>
            </a:r>
          </a:p>
        </p:txBody>
      </p:sp>
      <p:sp>
        <p:nvSpPr>
          <p:cNvPr id="6" name="TextBox 5"/>
          <p:cNvSpPr txBox="1"/>
          <p:nvPr/>
        </p:nvSpPr>
        <p:spPr>
          <a:xfrm>
            <a:off x="685800" y="1463040"/>
            <a:ext cx="10424160" cy="2331720"/>
          </a:xfrm>
          <a:prstGeom prst="rect">
            <a:avLst/>
          </a:prstGeom>
          <a:noFill/>
        </p:spPr>
        <p:txBody>
          <a:bodyPr wrap="square" lIns="0" rIns="0" tIns="0" bIns="0">
            <a:spAutoFit/>
          </a:bodyPr>
          <a:lstStyle/>
          <a:p>
            <a:pPr algn="l">
              <a:spcAft>
                <a:spcPts val="300"/>
              </a:spcAft>
              <a:defRPr sz="3700" b="1">
                <a:solidFill>
                  <a:srgbClr val="172F36"/>
                </a:solidFill>
                <a:latin typeface="Segoe UI"/>
              </a:defRPr>
            </a:pPr>
            <a:r>
              <a:t>Where does a disruption add</a:t>
            </a:r>
          </a:p>
          <a:p>
            <a:pPr algn="l">
              <a:spcAft>
                <a:spcPts val="300"/>
              </a:spcAft>
              <a:defRPr sz="3700" b="1">
                <a:solidFill>
                  <a:srgbClr val="172F36"/>
                </a:solidFill>
                <a:latin typeface="Segoe UI"/>
              </a:defRPr>
            </a:pPr>
            <a:r>
              <a:t>the most temperature exposure</a:t>
            </a:r>
          </a:p>
          <a:p>
            <a:pPr algn="l">
              <a:spcAft>
                <a:spcPts val="300"/>
              </a:spcAft>
              <a:defRPr sz="3700" b="1">
                <a:solidFill>
                  <a:srgbClr val="172F36"/>
                </a:solidFill>
                <a:latin typeface="Segoe UI"/>
              </a:defRPr>
            </a:pPr>
            <a:r>
              <a:t>to an export journey?</a:t>
            </a:r>
          </a:p>
        </p:txBody>
      </p:sp>
      <p:cxnSp>
        <p:nvCxnSpPr>
          <p:cNvPr id="7" name="Connector 6"/>
          <p:cNvCxnSpPr/>
          <p:nvPr/>
        </p:nvCxnSpPr>
        <p:spPr>
          <a:xfrm>
            <a:off x="704088" y="4297680"/>
            <a:ext cx="10405872" cy="0"/>
          </a:xfrm>
          <a:prstGeom prst="line">
            <a:avLst/>
          </a:prstGeom>
          <a:ln w="1270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13232" y="4608576"/>
            <a:ext cx="1920240" cy="320040"/>
          </a:xfrm>
          <a:prstGeom prst="rect">
            <a:avLst/>
          </a:prstGeom>
          <a:noFill/>
        </p:spPr>
        <p:txBody>
          <a:bodyPr wrap="square" lIns="0" rIns="0" tIns="0" bIns="0">
            <a:spAutoFit/>
          </a:bodyPr>
          <a:lstStyle/>
          <a:p>
            <a:pPr algn="l">
              <a:spcAft>
                <a:spcPts val="300"/>
              </a:spcAft>
              <a:defRPr sz="1100" b="1">
                <a:solidFill>
                  <a:srgbClr val="167C88"/>
                </a:solidFill>
                <a:latin typeface="Segoe UI"/>
              </a:defRPr>
            </a:pPr>
            <a:r>
              <a:t>LONGER-TERM AIM</a:t>
            </a:r>
          </a:p>
        </p:txBody>
      </p:sp>
      <p:sp>
        <p:nvSpPr>
          <p:cNvPr id="9" name="TextBox 8"/>
          <p:cNvSpPr txBox="1"/>
          <p:nvPr/>
        </p:nvSpPr>
        <p:spPr>
          <a:xfrm>
            <a:off x="2743200" y="4553712"/>
            <a:ext cx="8275320" cy="932688"/>
          </a:xfrm>
          <a:prstGeom prst="rect">
            <a:avLst/>
          </a:prstGeom>
          <a:noFill/>
        </p:spPr>
        <p:txBody>
          <a:bodyPr wrap="square" lIns="0" rIns="0" tIns="0" bIns="0">
            <a:spAutoFit/>
          </a:bodyPr>
          <a:lstStyle/>
          <a:p>
            <a:pPr algn="l">
              <a:spcAft>
                <a:spcPts val="300"/>
              </a:spcAft>
              <a:defRPr sz="2300" b="0">
                <a:solidFill>
                  <a:srgbClr val="172F36"/>
                </a:solidFill>
                <a:latin typeface="Segoe UI"/>
              </a:defRPr>
            </a:pPr>
            <a:r>
              <a:t>Use paired fish-quality measurements to turn exposure into a tested spoilage forecast.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94360" y="329184"/>
            <a:ext cx="10058400" cy="274320"/>
          </a:xfrm>
          <a:prstGeom prst="rect">
            <a:avLst/>
          </a:prstGeom>
          <a:noFill/>
        </p:spPr>
        <p:txBody>
          <a:bodyPr wrap="square" lIns="0" rIns="0" tIns="0" bIns="0">
            <a:spAutoFit/>
          </a:bodyPr>
          <a:lstStyle/>
          <a:p>
            <a:pPr algn="l">
              <a:spcAft>
                <a:spcPts val="300"/>
              </a:spcAft>
              <a:defRPr sz="1050" b="1">
                <a:solidFill>
                  <a:srgbClr val="5B6C72"/>
                </a:solidFill>
                <a:latin typeface="Segoe UI"/>
              </a:defRPr>
            </a:pPr>
            <a:r>
              <a:t>WHAT WE BUILT</a:t>
            </a:r>
          </a:p>
        </p:txBody>
      </p:sp>
      <p:cxnSp>
        <p:nvCxnSpPr>
          <p:cNvPr id="3" name="Connector 2"/>
          <p:cNvCxnSpPr/>
          <p:nvPr/>
        </p:nvCxnSpPr>
        <p:spPr>
          <a:xfrm>
            <a:off x="594360" y="6382512"/>
            <a:ext cx="11000232" cy="0"/>
          </a:xfrm>
          <a:prstGeom prst="line">
            <a:avLst/>
          </a:prstGeom>
          <a:ln w="1016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92240"/>
            <a:ext cx="8229600" cy="182880"/>
          </a:xfrm>
          <a:prstGeom prst="rect">
            <a:avLst/>
          </a:prstGeom>
          <a:noFill/>
        </p:spPr>
        <p:txBody>
          <a:bodyPr wrap="square" lIns="0" rIns="0" tIns="0" bIns="0">
            <a:spAutoFit/>
          </a:bodyPr>
          <a:lstStyle/>
          <a:p>
            <a:pPr algn="l">
              <a:spcAft>
                <a:spcPts val="300"/>
              </a:spcAft>
              <a:defRPr sz="900" b="0">
                <a:solidFill>
                  <a:srgbClr val="5B6C72"/>
                </a:solidFill>
                <a:latin typeface="Segoe UI"/>
              </a:defRPr>
            </a:pPr>
            <a:r>
              <a:t>INDIAN FISHERIES  /  COLD-CHAIN RESEARCH</a:t>
            </a:r>
          </a:p>
        </p:txBody>
      </p:sp>
      <p:sp>
        <p:nvSpPr>
          <p:cNvPr id="5" name="TextBox 4"/>
          <p:cNvSpPr txBox="1"/>
          <p:nvPr/>
        </p:nvSpPr>
        <p:spPr>
          <a:xfrm>
            <a:off x="11018520" y="6464808"/>
            <a:ext cx="566928" cy="228600"/>
          </a:xfrm>
          <a:prstGeom prst="rect">
            <a:avLst/>
          </a:prstGeom>
          <a:noFill/>
        </p:spPr>
        <p:txBody>
          <a:bodyPr wrap="square" lIns="0" rIns="0" tIns="0" bIns="0">
            <a:spAutoFit/>
          </a:bodyPr>
          <a:lstStyle/>
          <a:p>
            <a:pPr algn="r">
              <a:spcAft>
                <a:spcPts val="300"/>
              </a:spcAft>
              <a:defRPr sz="950" b="0">
                <a:solidFill>
                  <a:srgbClr val="5B6C72"/>
                </a:solidFill>
                <a:latin typeface="Segoe UI"/>
              </a:defRPr>
            </a:pPr>
            <a:r>
              <a:t>05 / 12</a:t>
            </a:r>
          </a:p>
        </p:txBody>
      </p:sp>
      <p:sp>
        <p:nvSpPr>
          <p:cNvPr id="6" name="TextBox 5"/>
          <p:cNvSpPr txBox="1"/>
          <p:nvPr/>
        </p:nvSpPr>
        <p:spPr>
          <a:xfrm>
            <a:off x="594360" y="832104"/>
            <a:ext cx="10927080" cy="1024128"/>
          </a:xfrm>
          <a:prstGeom prst="rect">
            <a:avLst/>
          </a:prstGeom>
          <a:noFill/>
        </p:spPr>
        <p:txBody>
          <a:bodyPr wrap="square" lIns="0" rIns="0" tIns="0" bIns="0">
            <a:spAutoFit/>
          </a:bodyPr>
          <a:lstStyle/>
          <a:p>
            <a:pPr algn="l">
              <a:spcAft>
                <a:spcPts val="300"/>
              </a:spcAft>
              <a:defRPr sz="3300" b="1">
                <a:solidFill>
                  <a:srgbClr val="172F36"/>
                </a:solidFill>
                <a:latin typeface="Segoe UI"/>
              </a:defRPr>
            </a:pPr>
            <a:r>
              <a:t>A virtual cold chain we can experiment with.</a:t>
            </a:r>
          </a:p>
        </p:txBody>
      </p:sp>
      <p:sp>
        <p:nvSpPr>
          <p:cNvPr id="7" name="TextBox 6"/>
          <p:cNvSpPr txBox="1"/>
          <p:nvPr/>
        </p:nvSpPr>
        <p:spPr>
          <a:xfrm>
            <a:off x="667512" y="2249424"/>
            <a:ext cx="3383280" cy="1024128"/>
          </a:xfrm>
          <a:prstGeom prst="rect">
            <a:avLst/>
          </a:prstGeom>
          <a:noFill/>
        </p:spPr>
        <p:txBody>
          <a:bodyPr wrap="square" lIns="0" rIns="0" tIns="0" bIns="0">
            <a:spAutoFit/>
          </a:bodyPr>
          <a:lstStyle/>
          <a:p>
            <a:pPr algn="l">
              <a:spcAft>
                <a:spcPts val="300"/>
              </a:spcAft>
              <a:defRPr sz="2500" b="1">
                <a:solidFill>
                  <a:srgbClr val="172F36"/>
                </a:solidFill>
                <a:latin typeface="Segoe UI"/>
              </a:defRPr>
            </a:pPr>
            <a:r>
              <a:t>Change the cooling.</a:t>
            </a:r>
          </a:p>
          <a:p>
            <a:pPr algn="l">
              <a:spcAft>
                <a:spcPts val="300"/>
              </a:spcAft>
              <a:defRPr sz="2500" b="1">
                <a:solidFill>
                  <a:srgbClr val="172F36"/>
                </a:solidFill>
                <a:latin typeface="Segoe UI"/>
              </a:defRPr>
            </a:pPr>
            <a:r>
              <a:t>See the effect.</a:t>
            </a:r>
          </a:p>
        </p:txBody>
      </p:sp>
      <p:sp>
        <p:nvSpPr>
          <p:cNvPr id="8" name="TextBox 7"/>
          <p:cNvSpPr txBox="1"/>
          <p:nvPr/>
        </p:nvSpPr>
        <p:spPr>
          <a:xfrm>
            <a:off x="685800" y="3685032"/>
            <a:ext cx="3246120" cy="1463040"/>
          </a:xfrm>
          <a:prstGeom prst="rect">
            <a:avLst/>
          </a:prstGeom>
          <a:noFill/>
        </p:spPr>
        <p:txBody>
          <a:bodyPr wrap="square" lIns="0" rIns="0" tIns="0" bIns="0">
            <a:spAutoFit/>
          </a:bodyPr>
          <a:lstStyle/>
          <a:p>
            <a:pPr algn="l">
              <a:spcAft>
                <a:spcPts val="300"/>
              </a:spcAft>
              <a:defRPr sz="2100" b="0">
                <a:solidFill>
                  <a:srgbClr val="5B6C72"/>
                </a:solidFill>
                <a:latin typeface="Segoe UI"/>
              </a:defRPr>
            </a:pPr>
            <a:r>
              <a:t>A computer model follows the journey and compares normal cooling with disruptions.</a:t>
            </a:r>
          </a:p>
        </p:txBody>
      </p:sp>
      <p:sp>
        <p:nvSpPr>
          <p:cNvPr id="9" name="TextBox 8"/>
          <p:cNvSpPr txBox="1"/>
          <p:nvPr/>
        </p:nvSpPr>
        <p:spPr>
          <a:xfrm>
            <a:off x="685800" y="5550408"/>
            <a:ext cx="3246120" cy="402336"/>
          </a:xfrm>
          <a:prstGeom prst="rect">
            <a:avLst/>
          </a:prstGeom>
          <a:noFill/>
        </p:spPr>
        <p:txBody>
          <a:bodyPr wrap="square" lIns="0" rIns="0" tIns="0" bIns="0">
            <a:spAutoFit/>
          </a:bodyPr>
          <a:lstStyle/>
          <a:p>
            <a:pPr algn="l">
              <a:spcAft>
                <a:spcPts val="300"/>
              </a:spcAft>
              <a:defRPr sz="1300" b="1">
                <a:solidFill>
                  <a:srgbClr val="167C88"/>
                </a:solidFill>
                <a:latin typeface="Segoe UI"/>
              </a:defRPr>
            </a:pPr>
            <a:r>
              <a:t>Working local dashboard</a:t>
            </a:r>
          </a:p>
        </p:txBody>
      </p:sp>
      <p:pic>
        <p:nvPicPr>
          <p:cNvPr id="10" name="Picture 9" descr="02_road_failure_desktop.png"/>
          <p:cNvPicPr>
            <a:picLocks noChangeAspect="1"/>
          </p:cNvPicPr>
          <p:nvPr/>
        </p:nvPicPr>
        <p:blipFill>
          <a:blip r:embed="rId2"/>
          <a:stretch>
            <a:fillRect/>
          </a:stretch>
        </p:blipFill>
        <p:spPr>
          <a:xfrm>
            <a:off x="4572000" y="1965960"/>
            <a:ext cx="6766560" cy="42291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94360" y="329184"/>
            <a:ext cx="10058400" cy="274320"/>
          </a:xfrm>
          <a:prstGeom prst="rect">
            <a:avLst/>
          </a:prstGeom>
          <a:noFill/>
        </p:spPr>
        <p:txBody>
          <a:bodyPr wrap="square" lIns="0" rIns="0" tIns="0" bIns="0">
            <a:spAutoFit/>
          </a:bodyPr>
          <a:lstStyle/>
          <a:p>
            <a:pPr algn="l">
              <a:spcAft>
                <a:spcPts val="300"/>
              </a:spcAft>
              <a:defRPr sz="1050" b="1">
                <a:solidFill>
                  <a:srgbClr val="5B6C72"/>
                </a:solidFill>
                <a:latin typeface="Segoe UI"/>
              </a:defRPr>
            </a:pPr>
            <a:r>
              <a:t>WHAT WE BUILT</a:t>
            </a:r>
          </a:p>
        </p:txBody>
      </p:sp>
      <p:cxnSp>
        <p:nvCxnSpPr>
          <p:cNvPr id="3" name="Connector 2"/>
          <p:cNvCxnSpPr/>
          <p:nvPr/>
        </p:nvCxnSpPr>
        <p:spPr>
          <a:xfrm>
            <a:off x="594360" y="6382512"/>
            <a:ext cx="11000232" cy="0"/>
          </a:xfrm>
          <a:prstGeom prst="line">
            <a:avLst/>
          </a:prstGeom>
          <a:ln w="1016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92240"/>
            <a:ext cx="8229600" cy="182880"/>
          </a:xfrm>
          <a:prstGeom prst="rect">
            <a:avLst/>
          </a:prstGeom>
          <a:noFill/>
        </p:spPr>
        <p:txBody>
          <a:bodyPr wrap="square" lIns="0" rIns="0" tIns="0" bIns="0">
            <a:spAutoFit/>
          </a:bodyPr>
          <a:lstStyle/>
          <a:p>
            <a:pPr algn="l">
              <a:spcAft>
                <a:spcPts val="300"/>
              </a:spcAft>
              <a:defRPr sz="900" b="0">
                <a:solidFill>
                  <a:srgbClr val="5B6C72"/>
                </a:solidFill>
                <a:latin typeface="Segoe UI"/>
              </a:defRPr>
            </a:pPr>
            <a:r>
              <a:t>INDIAN FISHERIES  /  COLD-CHAIN RESEARCH</a:t>
            </a:r>
          </a:p>
        </p:txBody>
      </p:sp>
      <p:sp>
        <p:nvSpPr>
          <p:cNvPr id="5" name="TextBox 4"/>
          <p:cNvSpPr txBox="1"/>
          <p:nvPr/>
        </p:nvSpPr>
        <p:spPr>
          <a:xfrm>
            <a:off x="11018520" y="6464808"/>
            <a:ext cx="566928" cy="228600"/>
          </a:xfrm>
          <a:prstGeom prst="rect">
            <a:avLst/>
          </a:prstGeom>
          <a:noFill/>
        </p:spPr>
        <p:txBody>
          <a:bodyPr wrap="square" lIns="0" rIns="0" tIns="0" bIns="0">
            <a:spAutoFit/>
          </a:bodyPr>
          <a:lstStyle/>
          <a:p>
            <a:pPr algn="r">
              <a:spcAft>
                <a:spcPts val="300"/>
              </a:spcAft>
              <a:defRPr sz="950" b="0">
                <a:solidFill>
                  <a:srgbClr val="5B6C72"/>
                </a:solidFill>
                <a:latin typeface="Segoe UI"/>
              </a:defRPr>
            </a:pPr>
            <a:r>
              <a:t>06 / 12</a:t>
            </a:r>
          </a:p>
        </p:txBody>
      </p:sp>
      <p:sp>
        <p:nvSpPr>
          <p:cNvPr id="6" name="TextBox 5"/>
          <p:cNvSpPr txBox="1"/>
          <p:nvPr/>
        </p:nvSpPr>
        <p:spPr>
          <a:xfrm>
            <a:off x="594360" y="832104"/>
            <a:ext cx="10927080" cy="1024128"/>
          </a:xfrm>
          <a:prstGeom prst="rect">
            <a:avLst/>
          </a:prstGeom>
          <a:noFill/>
        </p:spPr>
        <p:txBody>
          <a:bodyPr wrap="square" lIns="0" rIns="0" tIns="0" bIns="0">
            <a:spAutoFit/>
          </a:bodyPr>
          <a:lstStyle/>
          <a:p>
            <a:pPr algn="l">
              <a:spcAft>
                <a:spcPts val="300"/>
              </a:spcAft>
              <a:defRPr sz="3300" b="1">
                <a:solidFill>
                  <a:srgbClr val="172F36"/>
                </a:solidFill>
                <a:latin typeface="Segoe UI"/>
              </a:defRPr>
            </a:pPr>
            <a:r>
              <a:t>Real measurements, used within their limits.</a:t>
            </a:r>
          </a:p>
        </p:txBody>
      </p:sp>
      <p:sp>
        <p:nvSpPr>
          <p:cNvPr id="7" name="TextBox 6"/>
          <p:cNvSpPr txBox="1"/>
          <p:nvPr/>
        </p:nvSpPr>
        <p:spPr>
          <a:xfrm>
            <a:off x="621792" y="1847088"/>
            <a:ext cx="10607040" cy="566928"/>
          </a:xfrm>
          <a:prstGeom prst="rect">
            <a:avLst/>
          </a:prstGeom>
          <a:noFill/>
        </p:spPr>
        <p:txBody>
          <a:bodyPr wrap="square" lIns="0" rIns="0" tIns="0" bIns="0">
            <a:spAutoFit/>
          </a:bodyPr>
          <a:lstStyle/>
          <a:p>
            <a:pPr algn="l">
              <a:spcAft>
                <a:spcPts val="300"/>
              </a:spcAft>
              <a:defRPr sz="1800" b="0">
                <a:solidFill>
                  <a:srgbClr val="5B6C72"/>
                </a:solidFill>
                <a:latin typeface="Segoe UI"/>
              </a:defRPr>
            </a:pPr>
            <a:r>
              <a:t>The sources play different roles in the system.</a:t>
            </a:r>
          </a:p>
        </p:txBody>
      </p:sp>
      <p:cxnSp>
        <p:nvCxnSpPr>
          <p:cNvPr id="8" name="Connector 7"/>
          <p:cNvCxnSpPr/>
          <p:nvPr/>
        </p:nvCxnSpPr>
        <p:spPr>
          <a:xfrm>
            <a:off x="685800" y="3218688"/>
            <a:ext cx="10698480" cy="0"/>
          </a:xfrm>
          <a:prstGeom prst="line">
            <a:avLst/>
          </a:prstGeom>
          <a:ln w="1016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04088" y="2606040"/>
            <a:ext cx="2240280" cy="365760"/>
          </a:xfrm>
          <a:prstGeom prst="rect">
            <a:avLst/>
          </a:prstGeom>
          <a:noFill/>
        </p:spPr>
        <p:txBody>
          <a:bodyPr wrap="square" lIns="0" rIns="0" tIns="0" bIns="0">
            <a:spAutoFit/>
          </a:bodyPr>
          <a:lstStyle/>
          <a:p>
            <a:pPr algn="l">
              <a:spcAft>
                <a:spcPts val="300"/>
              </a:spcAft>
              <a:defRPr sz="2000" b="1">
                <a:solidFill>
                  <a:srgbClr val="172F36"/>
                </a:solidFill>
                <a:latin typeface="Segoe UI"/>
              </a:defRPr>
            </a:pPr>
            <a:r>
              <a:t>Fish sensors</a:t>
            </a:r>
          </a:p>
        </p:txBody>
      </p:sp>
      <p:sp>
        <p:nvSpPr>
          <p:cNvPr id="10" name="TextBox 9"/>
          <p:cNvSpPr txBox="1"/>
          <p:nvPr/>
        </p:nvSpPr>
        <p:spPr>
          <a:xfrm>
            <a:off x="3017520" y="2606040"/>
            <a:ext cx="3794760" cy="594360"/>
          </a:xfrm>
          <a:prstGeom prst="rect">
            <a:avLst/>
          </a:prstGeom>
          <a:noFill/>
        </p:spPr>
        <p:txBody>
          <a:bodyPr wrap="square" lIns="0" rIns="0" tIns="0" bIns="0">
            <a:spAutoFit/>
          </a:bodyPr>
          <a:lstStyle/>
          <a:p>
            <a:pPr algn="l">
              <a:spcAft>
                <a:spcPts val="300"/>
              </a:spcAft>
              <a:defRPr sz="1800" b="0">
                <a:solidFill>
                  <a:srgbClr val="172F36"/>
                </a:solidFill>
                <a:latin typeface="Segoe UI"/>
              </a:defRPr>
            </a:pPr>
            <a:r>
              <a:t>DaFiF and rainbow-trout sensor readings</a:t>
            </a:r>
          </a:p>
        </p:txBody>
      </p:sp>
      <p:sp>
        <p:nvSpPr>
          <p:cNvPr id="11" name="TextBox 10"/>
          <p:cNvSpPr txBox="1"/>
          <p:nvPr/>
        </p:nvSpPr>
        <p:spPr>
          <a:xfrm>
            <a:off x="7132320" y="2606040"/>
            <a:ext cx="4160520" cy="530352"/>
          </a:xfrm>
          <a:prstGeom prst="rect">
            <a:avLst/>
          </a:prstGeom>
          <a:noFill/>
        </p:spPr>
        <p:txBody>
          <a:bodyPr wrap="square" lIns="0" rIns="0" tIns="0" bIns="0">
            <a:spAutoFit/>
          </a:bodyPr>
          <a:lstStyle/>
          <a:p>
            <a:pPr algn="l">
              <a:spcAft>
                <a:spcPts val="300"/>
              </a:spcAft>
              <a:defRPr sz="1700" b="0">
                <a:solidFill>
                  <a:srgbClr val="5B6C72"/>
                </a:solidFill>
                <a:latin typeface="Segoe UI"/>
              </a:defRPr>
            </a:pPr>
            <a:r>
              <a:t>Study fish measurements; no matched quality labels</a:t>
            </a:r>
          </a:p>
        </p:txBody>
      </p:sp>
      <p:cxnSp>
        <p:nvCxnSpPr>
          <p:cNvPr id="12" name="Connector 11"/>
          <p:cNvCxnSpPr/>
          <p:nvPr/>
        </p:nvCxnSpPr>
        <p:spPr>
          <a:xfrm>
            <a:off x="685800" y="3959352"/>
            <a:ext cx="10698480" cy="0"/>
          </a:xfrm>
          <a:prstGeom prst="line">
            <a:avLst/>
          </a:prstGeom>
          <a:ln w="1016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04088" y="3346704"/>
            <a:ext cx="2240280" cy="365760"/>
          </a:xfrm>
          <a:prstGeom prst="rect">
            <a:avLst/>
          </a:prstGeom>
          <a:noFill/>
        </p:spPr>
        <p:txBody>
          <a:bodyPr wrap="square" lIns="0" rIns="0" tIns="0" bIns="0">
            <a:spAutoFit/>
          </a:bodyPr>
          <a:lstStyle/>
          <a:p>
            <a:pPr algn="l">
              <a:spcAft>
                <a:spcPts val="300"/>
              </a:spcAft>
              <a:defRPr sz="2000" b="1">
                <a:solidFill>
                  <a:srgbClr val="172F36"/>
                </a:solidFill>
                <a:latin typeface="Segoe UI"/>
              </a:defRPr>
            </a:pPr>
            <a:r>
              <a:t>Trout quality</a:t>
            </a:r>
          </a:p>
        </p:txBody>
      </p:sp>
      <p:sp>
        <p:nvSpPr>
          <p:cNvPr id="14" name="TextBox 13"/>
          <p:cNvSpPr txBox="1"/>
          <p:nvPr/>
        </p:nvSpPr>
        <p:spPr>
          <a:xfrm>
            <a:off x="3017520" y="3346704"/>
            <a:ext cx="3794760" cy="594360"/>
          </a:xfrm>
          <a:prstGeom prst="rect">
            <a:avLst/>
          </a:prstGeom>
          <a:noFill/>
        </p:spPr>
        <p:txBody>
          <a:bodyPr wrap="square" lIns="0" rIns="0" tIns="0" bIns="0">
            <a:spAutoFit/>
          </a:bodyPr>
          <a:lstStyle/>
          <a:p>
            <a:pPr algn="l">
              <a:spcAft>
                <a:spcPts val="300"/>
              </a:spcAft>
              <a:defRPr sz="1800" b="0">
                <a:solidFill>
                  <a:srgbClr val="172F36"/>
                </a:solidFill>
                <a:latin typeface="Segoe UI"/>
              </a:defRPr>
            </a:pPr>
            <a:r>
              <a:t>21 measured microbial-count assays</a:t>
            </a:r>
          </a:p>
        </p:txBody>
      </p:sp>
      <p:sp>
        <p:nvSpPr>
          <p:cNvPr id="15" name="TextBox 14"/>
          <p:cNvSpPr txBox="1"/>
          <p:nvPr/>
        </p:nvSpPr>
        <p:spPr>
          <a:xfrm>
            <a:off x="7132320" y="3346704"/>
            <a:ext cx="4160520" cy="530352"/>
          </a:xfrm>
          <a:prstGeom prst="rect">
            <a:avLst/>
          </a:prstGeom>
          <a:noFill/>
        </p:spPr>
        <p:txBody>
          <a:bodyPr wrap="square" lIns="0" rIns="0" tIns="0" bIns="0">
            <a:spAutoFit/>
          </a:bodyPr>
          <a:lstStyle/>
          <a:p>
            <a:pPr algn="l">
              <a:spcAft>
                <a:spcPts val="300"/>
              </a:spcAft>
              <a:defRPr sz="1700" b="0">
                <a:solidFill>
                  <a:srgbClr val="5B6C72"/>
                </a:solidFill>
                <a:latin typeface="Segoe UI"/>
              </a:defRPr>
            </a:pPr>
            <a:r>
              <a:t>A small, separate study at nominal 4 °C</a:t>
            </a:r>
          </a:p>
        </p:txBody>
      </p:sp>
      <p:cxnSp>
        <p:nvCxnSpPr>
          <p:cNvPr id="16" name="Connector 15"/>
          <p:cNvCxnSpPr/>
          <p:nvPr/>
        </p:nvCxnSpPr>
        <p:spPr>
          <a:xfrm>
            <a:off x="685800" y="4700016"/>
            <a:ext cx="10698480" cy="0"/>
          </a:xfrm>
          <a:prstGeom prst="line">
            <a:avLst/>
          </a:prstGeom>
          <a:ln w="1016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04088" y="4087368"/>
            <a:ext cx="2240280" cy="365760"/>
          </a:xfrm>
          <a:prstGeom prst="rect">
            <a:avLst/>
          </a:prstGeom>
          <a:noFill/>
        </p:spPr>
        <p:txBody>
          <a:bodyPr wrap="square" lIns="0" rIns="0" tIns="0" bIns="0">
            <a:spAutoFit/>
          </a:bodyPr>
          <a:lstStyle/>
          <a:p>
            <a:pPr algn="l">
              <a:spcAft>
                <a:spcPts val="300"/>
              </a:spcAft>
              <a:defRPr sz="2000" b="1">
                <a:solidFill>
                  <a:srgbClr val="172F36"/>
                </a:solidFill>
                <a:latin typeface="Segoe UI"/>
              </a:defRPr>
            </a:pPr>
            <a:r>
              <a:t>Export statistics</a:t>
            </a:r>
          </a:p>
        </p:txBody>
      </p:sp>
      <p:sp>
        <p:nvSpPr>
          <p:cNvPr id="18" name="TextBox 17"/>
          <p:cNvSpPr txBox="1"/>
          <p:nvPr/>
        </p:nvSpPr>
        <p:spPr>
          <a:xfrm>
            <a:off x="3017520" y="4087368"/>
            <a:ext cx="3794760" cy="594360"/>
          </a:xfrm>
          <a:prstGeom prst="rect">
            <a:avLst/>
          </a:prstGeom>
          <a:noFill/>
        </p:spPr>
        <p:txBody>
          <a:bodyPr wrap="square" lIns="0" rIns="0" tIns="0" bIns="0">
            <a:spAutoFit/>
          </a:bodyPr>
          <a:lstStyle/>
          <a:p>
            <a:pPr algn="l">
              <a:spcAft>
                <a:spcPts val="300"/>
              </a:spcAft>
              <a:defRPr sz="1800" b="0">
                <a:solidFill>
                  <a:srgbClr val="172F36"/>
                </a:solidFill>
                <a:latin typeface="Segoe UI"/>
              </a:defRPr>
            </a:pPr>
            <a:r>
              <a:t>Official MPEDA records</a:t>
            </a:r>
          </a:p>
        </p:txBody>
      </p:sp>
      <p:sp>
        <p:nvSpPr>
          <p:cNvPr id="19" name="TextBox 18"/>
          <p:cNvSpPr txBox="1"/>
          <p:nvPr/>
        </p:nvSpPr>
        <p:spPr>
          <a:xfrm>
            <a:off x="7132320" y="4087368"/>
            <a:ext cx="4160520" cy="530352"/>
          </a:xfrm>
          <a:prstGeom prst="rect">
            <a:avLst/>
          </a:prstGeom>
          <a:noFill/>
        </p:spPr>
        <p:txBody>
          <a:bodyPr wrap="square" lIns="0" rIns="0" tIns="0" bIns="0">
            <a:spAutoFit/>
          </a:bodyPr>
          <a:lstStyle/>
          <a:p>
            <a:pPr algn="l">
              <a:spcAft>
                <a:spcPts val="300"/>
              </a:spcAft>
              <a:defRPr sz="1700" b="0">
                <a:solidFill>
                  <a:srgbClr val="5B6C72"/>
                </a:solidFill>
                <a:latin typeface="Segoe UI"/>
              </a:defRPr>
            </a:pPr>
            <a:r>
              <a:t>Indian trade context; not shipment tracking</a:t>
            </a:r>
          </a:p>
        </p:txBody>
      </p:sp>
      <p:cxnSp>
        <p:nvCxnSpPr>
          <p:cNvPr id="20" name="Connector 19"/>
          <p:cNvCxnSpPr/>
          <p:nvPr/>
        </p:nvCxnSpPr>
        <p:spPr>
          <a:xfrm>
            <a:off x="685800" y="5440680"/>
            <a:ext cx="10698480" cy="0"/>
          </a:xfrm>
          <a:prstGeom prst="line">
            <a:avLst/>
          </a:prstGeom>
          <a:ln w="1016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04088" y="4828032"/>
            <a:ext cx="2240280" cy="365760"/>
          </a:xfrm>
          <a:prstGeom prst="rect">
            <a:avLst/>
          </a:prstGeom>
          <a:noFill/>
        </p:spPr>
        <p:txBody>
          <a:bodyPr wrap="square" lIns="0" rIns="0" tIns="0" bIns="0">
            <a:spAutoFit/>
          </a:bodyPr>
          <a:lstStyle/>
          <a:p>
            <a:pPr algn="l">
              <a:spcAft>
                <a:spcPts val="300"/>
              </a:spcAft>
              <a:defRPr sz="2000" b="1">
                <a:solidFill>
                  <a:srgbClr val="172F36"/>
                </a:solidFill>
                <a:latin typeface="Segoe UI"/>
              </a:defRPr>
            </a:pPr>
            <a:r>
              <a:t>Thermal records</a:t>
            </a:r>
          </a:p>
        </p:txBody>
      </p:sp>
      <p:sp>
        <p:nvSpPr>
          <p:cNvPr id="22" name="TextBox 21"/>
          <p:cNvSpPr txBox="1"/>
          <p:nvPr/>
        </p:nvSpPr>
        <p:spPr>
          <a:xfrm>
            <a:off x="3017520" y="4828032"/>
            <a:ext cx="3794760" cy="594360"/>
          </a:xfrm>
          <a:prstGeom prst="rect">
            <a:avLst/>
          </a:prstGeom>
          <a:noFill/>
        </p:spPr>
        <p:txBody>
          <a:bodyPr wrap="square" lIns="0" rIns="0" tIns="0" bIns="0">
            <a:spAutoFit/>
          </a:bodyPr>
          <a:lstStyle/>
          <a:p>
            <a:pPr algn="l">
              <a:spcAft>
                <a:spcPts val="300"/>
              </a:spcAft>
              <a:defRPr sz="1800" b="0">
                <a:solidFill>
                  <a:srgbClr val="172F36"/>
                </a:solidFill>
                <a:latin typeface="Segoe UI"/>
              </a:defRPr>
            </a:pPr>
            <a:r>
              <a:t>Citrus reefer and cold-room measurements</a:t>
            </a:r>
          </a:p>
        </p:txBody>
      </p:sp>
      <p:sp>
        <p:nvSpPr>
          <p:cNvPr id="23" name="TextBox 22"/>
          <p:cNvSpPr txBox="1"/>
          <p:nvPr/>
        </p:nvSpPr>
        <p:spPr>
          <a:xfrm>
            <a:off x="7132320" y="4828032"/>
            <a:ext cx="4160520" cy="530352"/>
          </a:xfrm>
          <a:prstGeom prst="rect">
            <a:avLst/>
          </a:prstGeom>
          <a:noFill/>
        </p:spPr>
        <p:txBody>
          <a:bodyPr wrap="square" lIns="0" rIns="0" tIns="0" bIns="0">
            <a:spAutoFit/>
          </a:bodyPr>
          <a:lstStyle/>
          <a:p>
            <a:pPr algn="l">
              <a:spcAft>
                <a:spcPts val="300"/>
              </a:spcAft>
              <a:defRPr sz="1700" b="0">
                <a:solidFill>
                  <a:srgbClr val="5B6C72"/>
                </a:solidFill>
                <a:latin typeface="Segoe UI"/>
              </a:defRPr>
            </a:pPr>
            <a:r>
              <a:t>Nonfish proxy patterns; not seafood route logs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94360" y="329184"/>
            <a:ext cx="10058400" cy="274320"/>
          </a:xfrm>
          <a:prstGeom prst="rect">
            <a:avLst/>
          </a:prstGeom>
          <a:noFill/>
        </p:spPr>
        <p:txBody>
          <a:bodyPr wrap="square" lIns="0" rIns="0" tIns="0" bIns="0">
            <a:spAutoFit/>
          </a:bodyPr>
          <a:lstStyle/>
          <a:p>
            <a:pPr algn="l">
              <a:spcAft>
                <a:spcPts val="300"/>
              </a:spcAft>
              <a:defRPr sz="1050" b="1">
                <a:solidFill>
                  <a:srgbClr val="5B6C72"/>
                </a:solidFill>
                <a:latin typeface="Segoe UI"/>
              </a:defRPr>
            </a:pPr>
            <a:r>
              <a:t>WHAT WE BUILT</a:t>
            </a:r>
          </a:p>
        </p:txBody>
      </p:sp>
      <p:cxnSp>
        <p:nvCxnSpPr>
          <p:cNvPr id="3" name="Connector 2"/>
          <p:cNvCxnSpPr/>
          <p:nvPr/>
        </p:nvCxnSpPr>
        <p:spPr>
          <a:xfrm>
            <a:off x="594360" y="6382512"/>
            <a:ext cx="11000232" cy="0"/>
          </a:xfrm>
          <a:prstGeom prst="line">
            <a:avLst/>
          </a:prstGeom>
          <a:ln w="1016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92240"/>
            <a:ext cx="8229600" cy="182880"/>
          </a:xfrm>
          <a:prstGeom prst="rect">
            <a:avLst/>
          </a:prstGeom>
          <a:noFill/>
        </p:spPr>
        <p:txBody>
          <a:bodyPr wrap="square" lIns="0" rIns="0" tIns="0" bIns="0">
            <a:spAutoFit/>
          </a:bodyPr>
          <a:lstStyle/>
          <a:p>
            <a:pPr algn="l">
              <a:spcAft>
                <a:spcPts val="300"/>
              </a:spcAft>
              <a:defRPr sz="900" b="0">
                <a:solidFill>
                  <a:srgbClr val="5B6C72"/>
                </a:solidFill>
                <a:latin typeface="Segoe UI"/>
              </a:defRPr>
            </a:pPr>
            <a:r>
              <a:t>INDIAN FISHERIES  /  COLD-CHAIN RESEARCH</a:t>
            </a:r>
          </a:p>
        </p:txBody>
      </p:sp>
      <p:sp>
        <p:nvSpPr>
          <p:cNvPr id="5" name="TextBox 4"/>
          <p:cNvSpPr txBox="1"/>
          <p:nvPr/>
        </p:nvSpPr>
        <p:spPr>
          <a:xfrm>
            <a:off x="11018520" y="6464808"/>
            <a:ext cx="566928" cy="228600"/>
          </a:xfrm>
          <a:prstGeom prst="rect">
            <a:avLst/>
          </a:prstGeom>
          <a:noFill/>
        </p:spPr>
        <p:txBody>
          <a:bodyPr wrap="square" lIns="0" rIns="0" tIns="0" bIns="0">
            <a:spAutoFit/>
          </a:bodyPr>
          <a:lstStyle/>
          <a:p>
            <a:pPr algn="r">
              <a:spcAft>
                <a:spcPts val="300"/>
              </a:spcAft>
              <a:defRPr sz="950" b="0">
                <a:solidFill>
                  <a:srgbClr val="5B6C72"/>
                </a:solidFill>
                <a:latin typeface="Segoe UI"/>
              </a:defRPr>
            </a:pPr>
            <a:r>
              <a:t>07 / 12</a:t>
            </a:r>
          </a:p>
        </p:txBody>
      </p:sp>
      <p:sp>
        <p:nvSpPr>
          <p:cNvPr id="6" name="TextBox 5"/>
          <p:cNvSpPr txBox="1"/>
          <p:nvPr/>
        </p:nvSpPr>
        <p:spPr>
          <a:xfrm>
            <a:off x="594360" y="832104"/>
            <a:ext cx="10927080" cy="1024128"/>
          </a:xfrm>
          <a:prstGeom prst="rect">
            <a:avLst/>
          </a:prstGeom>
          <a:noFill/>
        </p:spPr>
        <p:txBody>
          <a:bodyPr wrap="square" lIns="0" rIns="0" tIns="0" bIns="0">
            <a:spAutoFit/>
          </a:bodyPr>
          <a:lstStyle/>
          <a:p>
            <a:pPr algn="l">
              <a:spcAft>
                <a:spcPts val="300"/>
              </a:spcAft>
              <a:defRPr sz="3300" b="1">
                <a:solidFill>
                  <a:srgbClr val="172F36"/>
                </a:solidFill>
                <a:latin typeface="Segoe UI"/>
              </a:defRPr>
            </a:pPr>
            <a:r>
              <a:t>From a route choice to a stage comparison.</a:t>
            </a:r>
          </a:p>
        </p:txBody>
      </p:sp>
      <p:sp>
        <p:nvSpPr>
          <p:cNvPr id="7" name="TextBox 6"/>
          <p:cNvSpPr txBox="1"/>
          <p:nvPr/>
        </p:nvSpPr>
        <p:spPr>
          <a:xfrm>
            <a:off x="713232" y="2039112"/>
            <a:ext cx="1645920" cy="393192"/>
          </a:xfrm>
          <a:prstGeom prst="rect">
            <a:avLst/>
          </a:prstGeom>
          <a:noFill/>
        </p:spPr>
        <p:txBody>
          <a:bodyPr wrap="square" lIns="0" rIns="0" tIns="0" bIns="0">
            <a:spAutoFit/>
          </a:bodyPr>
          <a:lstStyle/>
          <a:p>
            <a:pPr algn="l">
              <a:spcAft>
                <a:spcPts val="300"/>
              </a:spcAft>
              <a:defRPr sz="1500" b="1">
                <a:solidFill>
                  <a:srgbClr val="167C88"/>
                </a:solidFill>
                <a:latin typeface="Segoe UI"/>
              </a:defRPr>
            </a:pPr>
            <a:r>
              <a:t>01</a:t>
            </a:r>
          </a:p>
        </p:txBody>
      </p:sp>
      <p:sp>
        <p:nvSpPr>
          <p:cNvPr id="8" name="TextBox 7"/>
          <p:cNvSpPr txBox="1"/>
          <p:nvPr/>
        </p:nvSpPr>
        <p:spPr>
          <a:xfrm>
            <a:off x="713232" y="2542032"/>
            <a:ext cx="1920240" cy="822960"/>
          </a:xfrm>
          <a:prstGeom prst="rect">
            <a:avLst/>
          </a:prstGeom>
          <a:noFill/>
        </p:spPr>
        <p:txBody>
          <a:bodyPr wrap="square" lIns="0" rIns="0" tIns="0" bIns="0">
            <a:spAutoFit/>
          </a:bodyPr>
          <a:lstStyle/>
          <a:p>
            <a:pPr algn="l">
              <a:spcAft>
                <a:spcPts val="300"/>
              </a:spcAft>
              <a:defRPr sz="2200" b="1">
                <a:solidFill>
                  <a:srgbClr val="172F36"/>
                </a:solidFill>
                <a:latin typeface="Segoe UI"/>
              </a:defRPr>
            </a:pPr>
            <a:r>
              <a:t>Choose</a:t>
            </a:r>
          </a:p>
          <a:p>
            <a:pPr algn="l">
              <a:spcAft>
                <a:spcPts val="300"/>
              </a:spcAft>
              <a:defRPr sz="2200" b="1">
                <a:solidFill>
                  <a:srgbClr val="172F36"/>
                </a:solidFill>
                <a:latin typeface="Segoe UI"/>
              </a:defRPr>
            </a:pPr>
            <a:r>
              <a:t>a route</a:t>
            </a:r>
          </a:p>
        </p:txBody>
      </p:sp>
      <p:sp>
        <p:nvSpPr>
          <p:cNvPr id="9" name="TextBox 8"/>
          <p:cNvSpPr txBox="1"/>
          <p:nvPr/>
        </p:nvSpPr>
        <p:spPr>
          <a:xfrm>
            <a:off x="2633472" y="2660904"/>
            <a:ext cx="320040" cy="411480"/>
          </a:xfrm>
          <a:prstGeom prst="rect">
            <a:avLst/>
          </a:prstGeom>
          <a:noFill/>
        </p:spPr>
        <p:txBody>
          <a:bodyPr wrap="square" lIns="0" rIns="0" tIns="0" bIns="0">
            <a:spAutoFit/>
          </a:bodyPr>
          <a:lstStyle/>
          <a:p>
            <a:pPr algn="l">
              <a:spcAft>
                <a:spcPts val="300"/>
              </a:spcAft>
              <a:defRPr sz="2200" b="0">
                <a:solidFill>
                  <a:srgbClr val="5B6C72"/>
                </a:solidFill>
                <a:latin typeface="Segoe UI"/>
              </a:defRPr>
            </a:pPr>
            <a:r>
              <a:t>→</a:t>
            </a:r>
          </a:p>
        </p:txBody>
      </p:sp>
      <p:sp>
        <p:nvSpPr>
          <p:cNvPr id="10" name="TextBox 9"/>
          <p:cNvSpPr txBox="1"/>
          <p:nvPr/>
        </p:nvSpPr>
        <p:spPr>
          <a:xfrm>
            <a:off x="3008376" y="2039112"/>
            <a:ext cx="1645920" cy="393192"/>
          </a:xfrm>
          <a:prstGeom prst="rect">
            <a:avLst/>
          </a:prstGeom>
          <a:noFill/>
        </p:spPr>
        <p:txBody>
          <a:bodyPr wrap="square" lIns="0" rIns="0" tIns="0" bIns="0">
            <a:spAutoFit/>
          </a:bodyPr>
          <a:lstStyle/>
          <a:p>
            <a:pPr algn="l">
              <a:spcAft>
                <a:spcPts val="300"/>
              </a:spcAft>
              <a:defRPr sz="1500" b="1">
                <a:solidFill>
                  <a:srgbClr val="167C88"/>
                </a:solidFill>
                <a:latin typeface="Segoe UI"/>
              </a:defRPr>
            </a:pPr>
            <a:r>
              <a:t>02</a:t>
            </a:r>
          </a:p>
        </p:txBody>
      </p:sp>
      <p:sp>
        <p:nvSpPr>
          <p:cNvPr id="11" name="TextBox 10"/>
          <p:cNvSpPr txBox="1"/>
          <p:nvPr/>
        </p:nvSpPr>
        <p:spPr>
          <a:xfrm>
            <a:off x="3008376" y="2542032"/>
            <a:ext cx="1920240" cy="822960"/>
          </a:xfrm>
          <a:prstGeom prst="rect">
            <a:avLst/>
          </a:prstGeom>
          <a:noFill/>
        </p:spPr>
        <p:txBody>
          <a:bodyPr wrap="square" lIns="0" rIns="0" tIns="0" bIns="0">
            <a:spAutoFit/>
          </a:bodyPr>
          <a:lstStyle/>
          <a:p>
            <a:pPr algn="l">
              <a:spcAft>
                <a:spcPts val="300"/>
              </a:spcAft>
              <a:defRPr sz="2200" b="1">
                <a:solidFill>
                  <a:srgbClr val="172F36"/>
                </a:solidFill>
                <a:latin typeface="Segoe UI"/>
              </a:defRPr>
            </a:pPr>
            <a:r>
              <a:t>Set normal</a:t>
            </a:r>
          </a:p>
          <a:p>
            <a:pPr algn="l">
              <a:spcAft>
                <a:spcPts val="300"/>
              </a:spcAft>
              <a:defRPr sz="2200" b="1">
                <a:solidFill>
                  <a:srgbClr val="172F36"/>
                </a:solidFill>
                <a:latin typeface="Segoe UI"/>
              </a:defRPr>
            </a:pPr>
            <a:r>
              <a:t>cooling</a:t>
            </a:r>
          </a:p>
        </p:txBody>
      </p:sp>
      <p:sp>
        <p:nvSpPr>
          <p:cNvPr id="12" name="TextBox 11"/>
          <p:cNvSpPr txBox="1"/>
          <p:nvPr/>
        </p:nvSpPr>
        <p:spPr>
          <a:xfrm>
            <a:off x="4928616" y="2660904"/>
            <a:ext cx="320040" cy="411480"/>
          </a:xfrm>
          <a:prstGeom prst="rect">
            <a:avLst/>
          </a:prstGeom>
          <a:noFill/>
        </p:spPr>
        <p:txBody>
          <a:bodyPr wrap="square" lIns="0" rIns="0" tIns="0" bIns="0">
            <a:spAutoFit/>
          </a:bodyPr>
          <a:lstStyle/>
          <a:p>
            <a:pPr algn="l">
              <a:spcAft>
                <a:spcPts val="300"/>
              </a:spcAft>
              <a:defRPr sz="2200" b="0">
                <a:solidFill>
                  <a:srgbClr val="5B6C72"/>
                </a:solidFill>
                <a:latin typeface="Segoe UI"/>
              </a:defRPr>
            </a:pPr>
            <a:r>
              <a:t>→</a:t>
            </a:r>
          </a:p>
        </p:txBody>
      </p:sp>
      <p:sp>
        <p:nvSpPr>
          <p:cNvPr id="13" name="TextBox 12"/>
          <p:cNvSpPr txBox="1"/>
          <p:nvPr/>
        </p:nvSpPr>
        <p:spPr>
          <a:xfrm>
            <a:off x="5303520" y="2039112"/>
            <a:ext cx="1645920" cy="393192"/>
          </a:xfrm>
          <a:prstGeom prst="rect">
            <a:avLst/>
          </a:prstGeom>
          <a:noFill/>
        </p:spPr>
        <p:txBody>
          <a:bodyPr wrap="square" lIns="0" rIns="0" tIns="0" bIns="0">
            <a:spAutoFit/>
          </a:bodyPr>
          <a:lstStyle/>
          <a:p>
            <a:pPr algn="l">
              <a:spcAft>
                <a:spcPts val="300"/>
              </a:spcAft>
              <a:defRPr sz="1500" b="1">
                <a:solidFill>
                  <a:srgbClr val="167C88"/>
                </a:solidFill>
                <a:latin typeface="Segoe UI"/>
              </a:defRPr>
            </a:pPr>
            <a:r>
              <a:t>03</a:t>
            </a:r>
          </a:p>
        </p:txBody>
      </p:sp>
      <p:sp>
        <p:nvSpPr>
          <p:cNvPr id="14" name="TextBox 13"/>
          <p:cNvSpPr txBox="1"/>
          <p:nvPr/>
        </p:nvSpPr>
        <p:spPr>
          <a:xfrm>
            <a:off x="5303520" y="2542032"/>
            <a:ext cx="1920240" cy="822960"/>
          </a:xfrm>
          <a:prstGeom prst="rect">
            <a:avLst/>
          </a:prstGeom>
          <a:noFill/>
        </p:spPr>
        <p:txBody>
          <a:bodyPr wrap="square" lIns="0" rIns="0" tIns="0" bIns="0">
            <a:spAutoFit/>
          </a:bodyPr>
          <a:lstStyle/>
          <a:p>
            <a:pPr algn="l">
              <a:spcAft>
                <a:spcPts val="300"/>
              </a:spcAft>
              <a:defRPr sz="2200" b="1">
                <a:solidFill>
                  <a:srgbClr val="172F36"/>
                </a:solidFill>
                <a:latin typeface="Segoe UI"/>
              </a:defRPr>
            </a:pPr>
            <a:r>
              <a:t>Introduce</a:t>
            </a:r>
          </a:p>
          <a:p>
            <a:pPr algn="l">
              <a:spcAft>
                <a:spcPts val="300"/>
              </a:spcAft>
              <a:defRPr sz="2200" b="1">
                <a:solidFill>
                  <a:srgbClr val="172F36"/>
                </a:solidFill>
                <a:latin typeface="Segoe UI"/>
              </a:defRPr>
            </a:pPr>
            <a:r>
              <a:t>a disruption</a:t>
            </a:r>
          </a:p>
        </p:txBody>
      </p:sp>
      <p:sp>
        <p:nvSpPr>
          <p:cNvPr id="15" name="TextBox 14"/>
          <p:cNvSpPr txBox="1"/>
          <p:nvPr/>
        </p:nvSpPr>
        <p:spPr>
          <a:xfrm>
            <a:off x="7223760" y="2660904"/>
            <a:ext cx="320040" cy="411480"/>
          </a:xfrm>
          <a:prstGeom prst="rect">
            <a:avLst/>
          </a:prstGeom>
          <a:noFill/>
        </p:spPr>
        <p:txBody>
          <a:bodyPr wrap="square" lIns="0" rIns="0" tIns="0" bIns="0">
            <a:spAutoFit/>
          </a:bodyPr>
          <a:lstStyle/>
          <a:p>
            <a:pPr algn="l">
              <a:spcAft>
                <a:spcPts val="300"/>
              </a:spcAft>
              <a:defRPr sz="2200" b="0">
                <a:solidFill>
                  <a:srgbClr val="5B6C72"/>
                </a:solidFill>
                <a:latin typeface="Segoe UI"/>
              </a:defRPr>
            </a:pPr>
            <a:r>
              <a:t>→</a:t>
            </a:r>
          </a:p>
        </p:txBody>
      </p:sp>
      <p:sp>
        <p:nvSpPr>
          <p:cNvPr id="16" name="TextBox 15"/>
          <p:cNvSpPr txBox="1"/>
          <p:nvPr/>
        </p:nvSpPr>
        <p:spPr>
          <a:xfrm>
            <a:off x="7598663" y="2039112"/>
            <a:ext cx="1645920" cy="393192"/>
          </a:xfrm>
          <a:prstGeom prst="rect">
            <a:avLst/>
          </a:prstGeom>
          <a:noFill/>
        </p:spPr>
        <p:txBody>
          <a:bodyPr wrap="square" lIns="0" rIns="0" tIns="0" bIns="0">
            <a:spAutoFit/>
          </a:bodyPr>
          <a:lstStyle/>
          <a:p>
            <a:pPr algn="l">
              <a:spcAft>
                <a:spcPts val="300"/>
              </a:spcAft>
              <a:defRPr sz="1500" b="1">
                <a:solidFill>
                  <a:srgbClr val="167C88"/>
                </a:solidFill>
                <a:latin typeface="Segoe UI"/>
              </a:defRPr>
            </a:pPr>
            <a:r>
              <a:t>04</a:t>
            </a:r>
          </a:p>
        </p:txBody>
      </p:sp>
      <p:sp>
        <p:nvSpPr>
          <p:cNvPr id="17" name="TextBox 16"/>
          <p:cNvSpPr txBox="1"/>
          <p:nvPr/>
        </p:nvSpPr>
        <p:spPr>
          <a:xfrm>
            <a:off x="7598663" y="2542032"/>
            <a:ext cx="1920240" cy="822960"/>
          </a:xfrm>
          <a:prstGeom prst="rect">
            <a:avLst/>
          </a:prstGeom>
          <a:noFill/>
        </p:spPr>
        <p:txBody>
          <a:bodyPr wrap="square" lIns="0" rIns="0" tIns="0" bIns="0">
            <a:spAutoFit/>
          </a:bodyPr>
          <a:lstStyle/>
          <a:p>
            <a:pPr algn="l">
              <a:spcAft>
                <a:spcPts val="300"/>
              </a:spcAft>
              <a:defRPr sz="2200" b="1">
                <a:solidFill>
                  <a:srgbClr val="172F36"/>
                </a:solidFill>
                <a:latin typeface="Segoe UI"/>
              </a:defRPr>
            </a:pPr>
            <a:r>
              <a:t>Calculate</a:t>
            </a:r>
          </a:p>
          <a:p>
            <a:pPr algn="l">
              <a:spcAft>
                <a:spcPts val="300"/>
              </a:spcAft>
              <a:defRPr sz="2200" b="1">
                <a:solidFill>
                  <a:srgbClr val="172F36"/>
                </a:solidFill>
                <a:latin typeface="Segoe UI"/>
              </a:defRPr>
            </a:pPr>
            <a:r>
              <a:t>exposure</a:t>
            </a:r>
          </a:p>
        </p:txBody>
      </p:sp>
      <p:sp>
        <p:nvSpPr>
          <p:cNvPr id="18" name="TextBox 17"/>
          <p:cNvSpPr txBox="1"/>
          <p:nvPr/>
        </p:nvSpPr>
        <p:spPr>
          <a:xfrm>
            <a:off x="9518903" y="2660904"/>
            <a:ext cx="320040" cy="411480"/>
          </a:xfrm>
          <a:prstGeom prst="rect">
            <a:avLst/>
          </a:prstGeom>
          <a:noFill/>
        </p:spPr>
        <p:txBody>
          <a:bodyPr wrap="square" lIns="0" rIns="0" tIns="0" bIns="0">
            <a:spAutoFit/>
          </a:bodyPr>
          <a:lstStyle/>
          <a:p>
            <a:pPr algn="l">
              <a:spcAft>
                <a:spcPts val="300"/>
              </a:spcAft>
              <a:defRPr sz="2200" b="0">
                <a:solidFill>
                  <a:srgbClr val="5B6C72"/>
                </a:solidFill>
                <a:latin typeface="Segoe UI"/>
              </a:defRPr>
            </a:pPr>
            <a:r>
              <a:t>→</a:t>
            </a:r>
          </a:p>
        </p:txBody>
      </p:sp>
      <p:sp>
        <p:nvSpPr>
          <p:cNvPr id="19" name="TextBox 18"/>
          <p:cNvSpPr txBox="1"/>
          <p:nvPr/>
        </p:nvSpPr>
        <p:spPr>
          <a:xfrm>
            <a:off x="9893807" y="2039112"/>
            <a:ext cx="1645920" cy="393192"/>
          </a:xfrm>
          <a:prstGeom prst="rect">
            <a:avLst/>
          </a:prstGeom>
          <a:noFill/>
        </p:spPr>
        <p:txBody>
          <a:bodyPr wrap="square" lIns="0" rIns="0" tIns="0" bIns="0">
            <a:spAutoFit/>
          </a:bodyPr>
          <a:lstStyle/>
          <a:p>
            <a:pPr algn="l">
              <a:spcAft>
                <a:spcPts val="300"/>
              </a:spcAft>
              <a:defRPr sz="1500" b="1">
                <a:solidFill>
                  <a:srgbClr val="167C88"/>
                </a:solidFill>
                <a:latin typeface="Segoe UI"/>
              </a:defRPr>
            </a:pPr>
            <a:r>
              <a:t>05</a:t>
            </a:r>
          </a:p>
        </p:txBody>
      </p:sp>
      <p:sp>
        <p:nvSpPr>
          <p:cNvPr id="20" name="TextBox 19"/>
          <p:cNvSpPr txBox="1"/>
          <p:nvPr/>
        </p:nvSpPr>
        <p:spPr>
          <a:xfrm>
            <a:off x="9893807" y="2542032"/>
            <a:ext cx="1920240" cy="822960"/>
          </a:xfrm>
          <a:prstGeom prst="rect">
            <a:avLst/>
          </a:prstGeom>
          <a:noFill/>
        </p:spPr>
        <p:txBody>
          <a:bodyPr wrap="square" lIns="0" rIns="0" tIns="0" bIns="0">
            <a:spAutoFit/>
          </a:bodyPr>
          <a:lstStyle/>
          <a:p>
            <a:pPr algn="l">
              <a:spcAft>
                <a:spcPts val="300"/>
              </a:spcAft>
              <a:defRPr sz="2200" b="1">
                <a:solidFill>
                  <a:srgbClr val="172F36"/>
                </a:solidFill>
                <a:latin typeface="Segoe UI"/>
              </a:defRPr>
            </a:pPr>
            <a:r>
              <a:t>Compare</a:t>
            </a:r>
          </a:p>
          <a:p>
            <a:pPr algn="l">
              <a:spcAft>
                <a:spcPts val="300"/>
              </a:spcAft>
              <a:defRPr sz="2200" b="1">
                <a:solidFill>
                  <a:srgbClr val="172F36"/>
                </a:solidFill>
                <a:latin typeface="Segoe UI"/>
              </a:defRPr>
            </a:pPr>
            <a:r>
              <a:t>the stages</a:t>
            </a:r>
          </a:p>
        </p:txBody>
      </p:sp>
      <p:sp>
        <p:nvSpPr>
          <p:cNvPr id="21" name="Rectangle 20"/>
          <p:cNvSpPr/>
          <p:nvPr/>
        </p:nvSpPr>
        <p:spPr>
          <a:xfrm>
            <a:off x="713232" y="3685032"/>
            <a:ext cx="10716768" cy="1984248"/>
          </a:xfrm>
          <a:prstGeom prst="rect">
            <a:avLst/>
          </a:prstGeom>
          <a:solidFill>
            <a:srgbClr val="E8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0976" y="3840480"/>
            <a:ext cx="10012680" cy="384048"/>
          </a:xfrm>
          <a:prstGeom prst="rect">
            <a:avLst/>
          </a:prstGeom>
          <a:noFill/>
        </p:spPr>
        <p:txBody>
          <a:bodyPr wrap="square" lIns="0" rIns="0" tIns="0" bIns="0">
            <a:spAutoFit/>
          </a:bodyPr>
          <a:lstStyle/>
          <a:p>
            <a:pPr algn="l">
              <a:spcAft>
                <a:spcPts val="300"/>
              </a:spcAft>
              <a:defRPr sz="2000" b="0">
                <a:solidFill>
                  <a:srgbClr val="172F36"/>
                </a:solidFill>
                <a:latin typeface="Segoe UI"/>
              </a:defRPr>
            </a:pPr>
            <a:r>
              <a:t>Example: temperature stays at 5 °C for 2 hours</a:t>
            </a:r>
          </a:p>
        </p:txBody>
      </p:sp>
      <p:sp>
        <p:nvSpPr>
          <p:cNvPr id="23" name="TextBox 22"/>
          <p:cNvSpPr txBox="1"/>
          <p:nvPr/>
        </p:nvSpPr>
        <p:spPr>
          <a:xfrm>
            <a:off x="1143000" y="4462272"/>
            <a:ext cx="2103120" cy="594360"/>
          </a:xfrm>
          <a:prstGeom prst="rect">
            <a:avLst/>
          </a:prstGeom>
          <a:noFill/>
        </p:spPr>
        <p:txBody>
          <a:bodyPr wrap="square" lIns="0" rIns="0" tIns="0" bIns="0">
            <a:spAutoFit/>
          </a:bodyPr>
          <a:lstStyle/>
          <a:p>
            <a:pPr algn="l">
              <a:spcAft>
                <a:spcPts val="300"/>
              </a:spcAft>
              <a:defRPr sz="3500" b="1">
                <a:solidFill>
                  <a:srgbClr val="172F36"/>
                </a:solidFill>
                <a:latin typeface="Segoe UI"/>
              </a:defRPr>
            </a:pPr>
            <a:r>
              <a:t>3 °C</a:t>
            </a:r>
          </a:p>
        </p:txBody>
      </p:sp>
      <p:sp>
        <p:nvSpPr>
          <p:cNvPr id="24" name="TextBox 23"/>
          <p:cNvSpPr txBox="1"/>
          <p:nvPr/>
        </p:nvSpPr>
        <p:spPr>
          <a:xfrm>
            <a:off x="1143000" y="5138928"/>
            <a:ext cx="2560320" cy="338328"/>
          </a:xfrm>
          <a:prstGeom prst="rect">
            <a:avLst/>
          </a:prstGeom>
          <a:noFill/>
        </p:spPr>
        <p:txBody>
          <a:bodyPr wrap="square" lIns="0" rIns="0" tIns="0" bIns="0">
            <a:spAutoFit/>
          </a:bodyPr>
          <a:lstStyle/>
          <a:p>
            <a:pPr algn="l">
              <a:spcAft>
                <a:spcPts val="300"/>
              </a:spcAft>
              <a:defRPr sz="1500" b="0">
                <a:solidFill>
                  <a:srgbClr val="5B6C72"/>
                </a:solidFill>
                <a:latin typeface="Segoe UI"/>
              </a:defRPr>
            </a:pPr>
            <a:r>
              <a:t>Above 2 °C reference</a:t>
            </a:r>
          </a:p>
        </p:txBody>
      </p:sp>
      <p:sp>
        <p:nvSpPr>
          <p:cNvPr id="25" name="TextBox 24"/>
          <p:cNvSpPr txBox="1"/>
          <p:nvPr/>
        </p:nvSpPr>
        <p:spPr>
          <a:xfrm>
            <a:off x="3803904" y="4562856"/>
            <a:ext cx="457200" cy="484632"/>
          </a:xfrm>
          <a:prstGeom prst="rect">
            <a:avLst/>
          </a:prstGeom>
          <a:noFill/>
        </p:spPr>
        <p:txBody>
          <a:bodyPr wrap="square" lIns="0" rIns="0" tIns="0" bIns="0">
            <a:spAutoFit/>
          </a:bodyPr>
          <a:lstStyle/>
          <a:p>
            <a:pPr algn="l">
              <a:spcAft>
                <a:spcPts val="300"/>
              </a:spcAft>
              <a:defRPr sz="2900" b="0">
                <a:solidFill>
                  <a:srgbClr val="5B6C72"/>
                </a:solidFill>
                <a:latin typeface="Segoe UI"/>
              </a:defRPr>
            </a:pPr>
            <a:r>
              <a:t>×</a:t>
            </a:r>
          </a:p>
        </p:txBody>
      </p:sp>
      <p:sp>
        <p:nvSpPr>
          <p:cNvPr id="26" name="TextBox 25"/>
          <p:cNvSpPr txBox="1"/>
          <p:nvPr/>
        </p:nvSpPr>
        <p:spPr>
          <a:xfrm>
            <a:off x="4727448" y="4462272"/>
            <a:ext cx="1920240" cy="594360"/>
          </a:xfrm>
          <a:prstGeom prst="rect">
            <a:avLst/>
          </a:prstGeom>
          <a:noFill/>
        </p:spPr>
        <p:txBody>
          <a:bodyPr wrap="square" lIns="0" rIns="0" tIns="0" bIns="0">
            <a:spAutoFit/>
          </a:bodyPr>
          <a:lstStyle/>
          <a:p>
            <a:pPr algn="l">
              <a:spcAft>
                <a:spcPts val="300"/>
              </a:spcAft>
              <a:defRPr sz="3500" b="1">
                <a:solidFill>
                  <a:srgbClr val="172F36"/>
                </a:solidFill>
                <a:latin typeface="Segoe UI"/>
              </a:defRPr>
            </a:pPr>
            <a:r>
              <a:t>2 h</a:t>
            </a:r>
          </a:p>
        </p:txBody>
      </p:sp>
      <p:sp>
        <p:nvSpPr>
          <p:cNvPr id="27" name="TextBox 26"/>
          <p:cNvSpPr txBox="1"/>
          <p:nvPr/>
        </p:nvSpPr>
        <p:spPr>
          <a:xfrm>
            <a:off x="4727448" y="5138928"/>
            <a:ext cx="2011680" cy="338328"/>
          </a:xfrm>
          <a:prstGeom prst="rect">
            <a:avLst/>
          </a:prstGeom>
          <a:noFill/>
        </p:spPr>
        <p:txBody>
          <a:bodyPr wrap="square" lIns="0" rIns="0" tIns="0" bIns="0">
            <a:spAutoFit/>
          </a:bodyPr>
          <a:lstStyle/>
          <a:p>
            <a:pPr algn="l">
              <a:spcAft>
                <a:spcPts val="300"/>
              </a:spcAft>
              <a:defRPr sz="1500" b="0">
                <a:solidFill>
                  <a:srgbClr val="5B6C72"/>
                </a:solidFill>
                <a:latin typeface="Segoe UI"/>
              </a:defRPr>
            </a:pPr>
            <a:r>
              <a:t>Duration</a:t>
            </a:r>
          </a:p>
        </p:txBody>
      </p:sp>
      <p:sp>
        <p:nvSpPr>
          <p:cNvPr id="28" name="TextBox 27"/>
          <p:cNvSpPr txBox="1"/>
          <p:nvPr/>
        </p:nvSpPr>
        <p:spPr>
          <a:xfrm>
            <a:off x="7296912" y="4562856"/>
            <a:ext cx="457200" cy="484632"/>
          </a:xfrm>
          <a:prstGeom prst="rect">
            <a:avLst/>
          </a:prstGeom>
          <a:noFill/>
        </p:spPr>
        <p:txBody>
          <a:bodyPr wrap="square" lIns="0" rIns="0" tIns="0" bIns="0">
            <a:spAutoFit/>
          </a:bodyPr>
          <a:lstStyle/>
          <a:p>
            <a:pPr algn="l">
              <a:spcAft>
                <a:spcPts val="300"/>
              </a:spcAft>
              <a:defRPr sz="2900" b="0">
                <a:solidFill>
                  <a:srgbClr val="5B6C72"/>
                </a:solidFill>
                <a:latin typeface="Segoe UI"/>
              </a:defRPr>
            </a:pPr>
            <a:r>
              <a:t>=</a:t>
            </a:r>
          </a:p>
        </p:txBody>
      </p:sp>
      <p:sp>
        <p:nvSpPr>
          <p:cNvPr id="29" name="TextBox 28"/>
          <p:cNvSpPr txBox="1"/>
          <p:nvPr/>
        </p:nvSpPr>
        <p:spPr>
          <a:xfrm>
            <a:off x="8284464" y="4462272"/>
            <a:ext cx="2788920" cy="594360"/>
          </a:xfrm>
          <a:prstGeom prst="rect">
            <a:avLst/>
          </a:prstGeom>
          <a:noFill/>
        </p:spPr>
        <p:txBody>
          <a:bodyPr wrap="square" lIns="0" rIns="0" tIns="0" bIns="0">
            <a:spAutoFit/>
          </a:bodyPr>
          <a:lstStyle/>
          <a:p>
            <a:pPr algn="l">
              <a:spcAft>
                <a:spcPts val="300"/>
              </a:spcAft>
              <a:defRPr sz="3500" b="1">
                <a:solidFill>
                  <a:srgbClr val="167C88"/>
                </a:solidFill>
                <a:latin typeface="Segoe UI"/>
              </a:defRPr>
            </a:pPr>
            <a:r>
              <a:t>6 °C·h</a:t>
            </a:r>
          </a:p>
        </p:txBody>
      </p:sp>
      <p:sp>
        <p:nvSpPr>
          <p:cNvPr id="30" name="TextBox 29"/>
          <p:cNvSpPr txBox="1"/>
          <p:nvPr/>
        </p:nvSpPr>
        <p:spPr>
          <a:xfrm>
            <a:off x="8284464" y="5138928"/>
            <a:ext cx="2788920" cy="338328"/>
          </a:xfrm>
          <a:prstGeom prst="rect">
            <a:avLst/>
          </a:prstGeom>
          <a:noFill/>
        </p:spPr>
        <p:txBody>
          <a:bodyPr wrap="square" lIns="0" rIns="0" tIns="0" bIns="0">
            <a:spAutoFit/>
          </a:bodyPr>
          <a:lstStyle/>
          <a:p>
            <a:pPr algn="l">
              <a:spcAft>
                <a:spcPts val="300"/>
              </a:spcAft>
              <a:defRPr sz="1500" b="0">
                <a:solidFill>
                  <a:srgbClr val="5B6C72"/>
                </a:solidFill>
                <a:latin typeface="Segoe UI"/>
              </a:defRPr>
            </a:pPr>
            <a:r>
              <a:t>Thermal exposure</a:t>
            </a:r>
          </a:p>
        </p:txBody>
      </p:sp>
      <p:sp>
        <p:nvSpPr>
          <p:cNvPr id="31" name="TextBox 30"/>
          <p:cNvSpPr txBox="1"/>
          <p:nvPr/>
        </p:nvSpPr>
        <p:spPr>
          <a:xfrm>
            <a:off x="749808" y="5897880"/>
            <a:ext cx="10652760" cy="320040"/>
          </a:xfrm>
          <a:prstGeom prst="rect">
            <a:avLst/>
          </a:prstGeom>
          <a:noFill/>
        </p:spPr>
        <p:txBody>
          <a:bodyPr wrap="square" lIns="0" rIns="0" tIns="0" bIns="0">
            <a:spAutoFit/>
          </a:bodyPr>
          <a:lstStyle/>
          <a:p>
            <a:pPr algn="l">
              <a:spcAft>
                <a:spcPts val="300"/>
              </a:spcAft>
              <a:defRPr sz="1500" b="0">
                <a:solidFill>
                  <a:srgbClr val="5B6C72"/>
                </a:solidFill>
                <a:latin typeface="Segoe UI"/>
              </a:defRPr>
            </a:pPr>
            <a:r>
              <a:t>This is a comparison measure, not a universal spoilage threshold.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94360" y="329184"/>
            <a:ext cx="10058400" cy="274320"/>
          </a:xfrm>
          <a:prstGeom prst="rect">
            <a:avLst/>
          </a:prstGeom>
          <a:noFill/>
        </p:spPr>
        <p:txBody>
          <a:bodyPr wrap="square" lIns="0" rIns="0" tIns="0" bIns="0">
            <a:spAutoFit/>
          </a:bodyPr>
          <a:lstStyle/>
          <a:p>
            <a:pPr algn="l">
              <a:spcAft>
                <a:spcPts val="300"/>
              </a:spcAft>
              <a:defRPr sz="1050" b="1">
                <a:solidFill>
                  <a:srgbClr val="5B6C72"/>
                </a:solidFill>
                <a:latin typeface="Segoe UI"/>
              </a:defRPr>
            </a:pPr>
            <a:r>
              <a:t>WHAT WE TESTED</a:t>
            </a:r>
          </a:p>
        </p:txBody>
      </p:sp>
      <p:cxnSp>
        <p:nvCxnSpPr>
          <p:cNvPr id="3" name="Connector 2"/>
          <p:cNvCxnSpPr/>
          <p:nvPr/>
        </p:nvCxnSpPr>
        <p:spPr>
          <a:xfrm>
            <a:off x="594360" y="6382512"/>
            <a:ext cx="11000232" cy="0"/>
          </a:xfrm>
          <a:prstGeom prst="line">
            <a:avLst/>
          </a:prstGeom>
          <a:ln w="1016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92240"/>
            <a:ext cx="8229600" cy="182880"/>
          </a:xfrm>
          <a:prstGeom prst="rect">
            <a:avLst/>
          </a:prstGeom>
          <a:noFill/>
        </p:spPr>
        <p:txBody>
          <a:bodyPr wrap="square" lIns="0" rIns="0" tIns="0" bIns="0">
            <a:spAutoFit/>
          </a:bodyPr>
          <a:lstStyle/>
          <a:p>
            <a:pPr algn="l">
              <a:spcAft>
                <a:spcPts val="300"/>
              </a:spcAft>
              <a:defRPr sz="900" b="0">
                <a:solidFill>
                  <a:srgbClr val="5B6C72"/>
                </a:solidFill>
                <a:latin typeface="Segoe UI"/>
              </a:defRPr>
            </a:pPr>
            <a:r>
              <a:t>INDIAN FISHERIES  /  COLD-CHAIN RESEARCH</a:t>
            </a:r>
          </a:p>
        </p:txBody>
      </p:sp>
      <p:sp>
        <p:nvSpPr>
          <p:cNvPr id="5" name="TextBox 4"/>
          <p:cNvSpPr txBox="1"/>
          <p:nvPr/>
        </p:nvSpPr>
        <p:spPr>
          <a:xfrm>
            <a:off x="11018520" y="6464808"/>
            <a:ext cx="566928" cy="228600"/>
          </a:xfrm>
          <a:prstGeom prst="rect">
            <a:avLst/>
          </a:prstGeom>
          <a:noFill/>
        </p:spPr>
        <p:txBody>
          <a:bodyPr wrap="square" lIns="0" rIns="0" tIns="0" bIns="0">
            <a:spAutoFit/>
          </a:bodyPr>
          <a:lstStyle/>
          <a:p>
            <a:pPr algn="r">
              <a:spcAft>
                <a:spcPts val="300"/>
              </a:spcAft>
              <a:defRPr sz="950" b="0">
                <a:solidFill>
                  <a:srgbClr val="5B6C72"/>
                </a:solidFill>
                <a:latin typeface="Segoe UI"/>
              </a:defRPr>
            </a:pPr>
            <a:r>
              <a:t>08 / 12</a:t>
            </a:r>
          </a:p>
        </p:txBody>
      </p:sp>
      <p:sp>
        <p:nvSpPr>
          <p:cNvPr id="6" name="TextBox 5"/>
          <p:cNvSpPr txBox="1"/>
          <p:nvPr/>
        </p:nvSpPr>
        <p:spPr>
          <a:xfrm>
            <a:off x="594360" y="832104"/>
            <a:ext cx="10927080" cy="1024128"/>
          </a:xfrm>
          <a:prstGeom prst="rect">
            <a:avLst/>
          </a:prstGeom>
          <a:noFill/>
        </p:spPr>
        <p:txBody>
          <a:bodyPr wrap="square" lIns="0" rIns="0" tIns="0" bIns="0">
            <a:spAutoFit/>
          </a:bodyPr>
          <a:lstStyle/>
          <a:p>
            <a:pPr algn="l">
              <a:spcAft>
                <a:spcPts val="300"/>
              </a:spcAft>
              <a:defRPr sz="3300" b="1">
                <a:solidFill>
                  <a:srgbClr val="172F36"/>
                </a:solidFill>
                <a:latin typeface="Segoe UI"/>
              </a:defRPr>
            </a:pPr>
            <a:r>
              <a:t>What if the journey does not go to plan?</a:t>
            </a:r>
          </a:p>
        </p:txBody>
      </p:sp>
      <p:sp>
        <p:nvSpPr>
          <p:cNvPr id="7" name="TextBox 6"/>
          <p:cNvSpPr txBox="1"/>
          <p:nvPr/>
        </p:nvSpPr>
        <p:spPr>
          <a:xfrm>
            <a:off x="621792" y="1847088"/>
            <a:ext cx="10607040" cy="566928"/>
          </a:xfrm>
          <a:prstGeom prst="rect">
            <a:avLst/>
          </a:prstGeom>
          <a:noFill/>
        </p:spPr>
        <p:txBody>
          <a:bodyPr wrap="square" lIns="0" rIns="0" tIns="0" bIns="0">
            <a:spAutoFit/>
          </a:bodyPr>
          <a:lstStyle/>
          <a:p>
            <a:pPr algn="l">
              <a:spcAft>
                <a:spcPts val="300"/>
              </a:spcAft>
              <a:defRPr sz="1800" b="0">
                <a:solidFill>
                  <a:srgbClr val="5B6C72"/>
                </a:solidFill>
                <a:latin typeface="Segoe UI"/>
              </a:defRPr>
            </a:pPr>
            <a:r>
              <a:t>Each disruption is compared with the same route under normal cooling.</a:t>
            </a:r>
          </a:p>
        </p:txBody>
      </p:sp>
      <p:cxnSp>
        <p:nvCxnSpPr>
          <p:cNvPr id="8" name="Connector 7"/>
          <p:cNvCxnSpPr/>
          <p:nvPr/>
        </p:nvCxnSpPr>
        <p:spPr>
          <a:xfrm>
            <a:off x="713232" y="2679192"/>
            <a:ext cx="3401568" cy="0"/>
          </a:xfrm>
          <a:prstGeom prst="line">
            <a:avLst/>
          </a:prstGeom>
          <a:ln w="1270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13232" y="2852928"/>
            <a:ext cx="3429000" cy="420624"/>
          </a:xfrm>
          <a:prstGeom prst="rect">
            <a:avLst/>
          </a:prstGeom>
          <a:noFill/>
        </p:spPr>
        <p:txBody>
          <a:bodyPr wrap="square" lIns="0" rIns="0" tIns="0" bIns="0">
            <a:spAutoFit/>
          </a:bodyPr>
          <a:lstStyle/>
          <a:p>
            <a:pPr algn="l">
              <a:spcAft>
                <a:spcPts val="300"/>
              </a:spcAft>
              <a:defRPr sz="2300" b="1">
                <a:solidFill>
                  <a:srgbClr val="172F36"/>
                </a:solidFill>
                <a:latin typeface="Segoe UI"/>
              </a:defRPr>
            </a:pPr>
            <a:r>
              <a:t>Normal cooling</a:t>
            </a:r>
          </a:p>
        </p:txBody>
      </p:sp>
      <p:sp>
        <p:nvSpPr>
          <p:cNvPr id="10" name="TextBox 9"/>
          <p:cNvSpPr txBox="1"/>
          <p:nvPr/>
        </p:nvSpPr>
        <p:spPr>
          <a:xfrm>
            <a:off x="713232" y="3419856"/>
            <a:ext cx="3401568" cy="594360"/>
          </a:xfrm>
          <a:prstGeom prst="rect">
            <a:avLst/>
          </a:prstGeom>
          <a:noFill/>
        </p:spPr>
        <p:txBody>
          <a:bodyPr wrap="square" lIns="0" rIns="0" tIns="0" bIns="0">
            <a:spAutoFit/>
          </a:bodyPr>
          <a:lstStyle/>
          <a:p>
            <a:pPr algn="l">
              <a:spcAft>
                <a:spcPts val="300"/>
              </a:spcAft>
              <a:defRPr sz="1800" b="0">
                <a:solidFill>
                  <a:srgbClr val="5B6C72"/>
                </a:solidFill>
                <a:latin typeface="Segoe UI"/>
              </a:defRPr>
            </a:pPr>
            <a:r>
              <a:t>The reference journey</a:t>
            </a:r>
          </a:p>
        </p:txBody>
      </p:sp>
      <p:cxnSp>
        <p:nvCxnSpPr>
          <p:cNvPr id="11" name="Connector 10"/>
          <p:cNvCxnSpPr/>
          <p:nvPr/>
        </p:nvCxnSpPr>
        <p:spPr>
          <a:xfrm>
            <a:off x="4553712" y="2679192"/>
            <a:ext cx="3401568" cy="0"/>
          </a:xfrm>
          <a:prstGeom prst="line">
            <a:avLst/>
          </a:prstGeom>
          <a:ln w="1270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553712" y="2852928"/>
            <a:ext cx="3429000" cy="420624"/>
          </a:xfrm>
          <a:prstGeom prst="rect">
            <a:avLst/>
          </a:prstGeom>
          <a:noFill/>
        </p:spPr>
        <p:txBody>
          <a:bodyPr wrap="square" lIns="0" rIns="0" tIns="0" bIns="0">
            <a:spAutoFit/>
          </a:bodyPr>
          <a:lstStyle/>
          <a:p>
            <a:pPr algn="l">
              <a:spcAft>
                <a:spcPts val="300"/>
              </a:spcAft>
              <a:defRPr sz="2300" b="1">
                <a:solidFill>
                  <a:srgbClr val="172F36"/>
                </a:solidFill>
                <a:latin typeface="Segoe UI"/>
              </a:defRPr>
            </a:pPr>
            <a:r>
              <a:t>Road cooling failure</a:t>
            </a:r>
          </a:p>
        </p:txBody>
      </p:sp>
      <p:sp>
        <p:nvSpPr>
          <p:cNvPr id="13" name="TextBox 12"/>
          <p:cNvSpPr txBox="1"/>
          <p:nvPr/>
        </p:nvSpPr>
        <p:spPr>
          <a:xfrm>
            <a:off x="4553712" y="3419856"/>
            <a:ext cx="3401568" cy="594360"/>
          </a:xfrm>
          <a:prstGeom prst="rect">
            <a:avLst/>
          </a:prstGeom>
          <a:noFill/>
        </p:spPr>
        <p:txBody>
          <a:bodyPr wrap="square" lIns="0" rIns="0" tIns="0" bIns="0">
            <a:spAutoFit/>
          </a:bodyPr>
          <a:lstStyle/>
          <a:p>
            <a:pPr algn="l">
              <a:spcAft>
                <a:spcPts val="300"/>
              </a:spcAft>
              <a:defRPr sz="1800" b="0">
                <a:solidFill>
                  <a:srgbClr val="5B6C72"/>
                </a:solidFill>
                <a:latin typeface="Segoe UI"/>
              </a:defRPr>
            </a:pPr>
            <a:r>
              <a:t>Cooling stops for 2 hours</a:t>
            </a:r>
          </a:p>
        </p:txBody>
      </p:sp>
      <p:cxnSp>
        <p:nvCxnSpPr>
          <p:cNvPr id="14" name="Connector 13"/>
          <p:cNvCxnSpPr/>
          <p:nvPr/>
        </p:nvCxnSpPr>
        <p:spPr>
          <a:xfrm>
            <a:off x="8394192" y="2679192"/>
            <a:ext cx="3401568" cy="0"/>
          </a:xfrm>
          <a:prstGeom prst="line">
            <a:avLst/>
          </a:prstGeom>
          <a:ln w="1270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394192" y="2852928"/>
            <a:ext cx="3429000" cy="420624"/>
          </a:xfrm>
          <a:prstGeom prst="rect">
            <a:avLst/>
          </a:prstGeom>
          <a:noFill/>
        </p:spPr>
        <p:txBody>
          <a:bodyPr wrap="square" lIns="0" rIns="0" tIns="0" bIns="0">
            <a:spAutoFit/>
          </a:bodyPr>
          <a:lstStyle/>
          <a:p>
            <a:pPr algn="l">
              <a:spcAft>
                <a:spcPts val="300"/>
              </a:spcAft>
              <a:defRPr sz="2300" b="1">
                <a:solidFill>
                  <a:srgbClr val="172F36"/>
                </a:solidFill>
                <a:latin typeface="Segoe UI"/>
              </a:defRPr>
            </a:pPr>
            <a:r>
              <a:t>Airport delay</a:t>
            </a:r>
          </a:p>
        </p:txBody>
      </p:sp>
      <p:sp>
        <p:nvSpPr>
          <p:cNvPr id="16" name="TextBox 15"/>
          <p:cNvSpPr txBox="1"/>
          <p:nvPr/>
        </p:nvSpPr>
        <p:spPr>
          <a:xfrm>
            <a:off x="8394192" y="3419856"/>
            <a:ext cx="3401568" cy="594360"/>
          </a:xfrm>
          <a:prstGeom prst="rect">
            <a:avLst/>
          </a:prstGeom>
          <a:noFill/>
        </p:spPr>
        <p:txBody>
          <a:bodyPr wrap="square" lIns="0" rIns="0" tIns="0" bIns="0">
            <a:spAutoFit/>
          </a:bodyPr>
          <a:lstStyle/>
          <a:p>
            <a:pPr algn="l">
              <a:spcAft>
                <a:spcPts val="300"/>
              </a:spcAft>
              <a:defRPr sz="1800" b="0">
                <a:solidFill>
                  <a:srgbClr val="5B6C72"/>
                </a:solidFill>
                <a:latin typeface="Segoe UI"/>
              </a:defRPr>
            </a:pPr>
            <a:r>
              <a:t>Extra waiting and an open door</a:t>
            </a:r>
          </a:p>
        </p:txBody>
      </p:sp>
      <p:cxnSp>
        <p:nvCxnSpPr>
          <p:cNvPr id="17" name="Connector 16"/>
          <p:cNvCxnSpPr/>
          <p:nvPr/>
        </p:nvCxnSpPr>
        <p:spPr>
          <a:xfrm>
            <a:off x="713232" y="4169664"/>
            <a:ext cx="3401568" cy="0"/>
          </a:xfrm>
          <a:prstGeom prst="line">
            <a:avLst/>
          </a:prstGeom>
          <a:ln w="1270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13232" y="4343400"/>
            <a:ext cx="3429000" cy="420624"/>
          </a:xfrm>
          <a:prstGeom prst="rect">
            <a:avLst/>
          </a:prstGeom>
          <a:noFill/>
        </p:spPr>
        <p:txBody>
          <a:bodyPr wrap="square" lIns="0" rIns="0" tIns="0" bIns="0">
            <a:spAutoFit/>
          </a:bodyPr>
          <a:lstStyle/>
          <a:p>
            <a:pPr algn="l">
              <a:spcAft>
                <a:spcPts val="300"/>
              </a:spcAft>
              <a:defRPr sz="2300" b="1">
                <a:solidFill>
                  <a:srgbClr val="172F36"/>
                </a:solidFill>
                <a:latin typeface="Segoe UI"/>
              </a:defRPr>
            </a:pPr>
            <a:r>
              <a:t>Warmer storage</a:t>
            </a:r>
          </a:p>
        </p:txBody>
      </p:sp>
      <p:sp>
        <p:nvSpPr>
          <p:cNvPr id="19" name="TextBox 18"/>
          <p:cNvSpPr txBox="1"/>
          <p:nvPr/>
        </p:nvSpPr>
        <p:spPr>
          <a:xfrm>
            <a:off x="713232" y="4910328"/>
            <a:ext cx="3401568" cy="594360"/>
          </a:xfrm>
          <a:prstGeom prst="rect">
            <a:avLst/>
          </a:prstGeom>
          <a:noFill/>
        </p:spPr>
        <p:txBody>
          <a:bodyPr wrap="square" lIns="0" rIns="0" tIns="0" bIns="0">
            <a:spAutoFit/>
          </a:bodyPr>
          <a:lstStyle/>
          <a:p>
            <a:pPr algn="l">
              <a:spcAft>
                <a:spcPts val="300"/>
              </a:spcAft>
              <a:defRPr sz="1800" b="0">
                <a:solidFill>
                  <a:srgbClr val="5B6C72"/>
                </a:solidFill>
                <a:latin typeface="Segoe UI"/>
              </a:defRPr>
            </a:pPr>
            <a:r>
              <a:t>Setpoint rises by 3 °C</a:t>
            </a:r>
          </a:p>
        </p:txBody>
      </p:sp>
      <p:cxnSp>
        <p:nvCxnSpPr>
          <p:cNvPr id="20" name="Connector 19"/>
          <p:cNvCxnSpPr/>
          <p:nvPr/>
        </p:nvCxnSpPr>
        <p:spPr>
          <a:xfrm>
            <a:off x="4553712" y="4169664"/>
            <a:ext cx="3401568" cy="0"/>
          </a:xfrm>
          <a:prstGeom prst="line">
            <a:avLst/>
          </a:prstGeom>
          <a:ln w="1270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53712" y="4343400"/>
            <a:ext cx="3429000" cy="420624"/>
          </a:xfrm>
          <a:prstGeom prst="rect">
            <a:avLst/>
          </a:prstGeom>
          <a:noFill/>
        </p:spPr>
        <p:txBody>
          <a:bodyPr wrap="square" lIns="0" rIns="0" tIns="0" bIns="0">
            <a:spAutoFit/>
          </a:bodyPr>
          <a:lstStyle/>
          <a:p>
            <a:pPr algn="l">
              <a:spcAft>
                <a:spcPts val="300"/>
              </a:spcAft>
              <a:defRPr sz="2300" b="1">
                <a:solidFill>
                  <a:srgbClr val="172F36"/>
                </a:solidFill>
                <a:latin typeface="Segoe UI"/>
              </a:defRPr>
            </a:pPr>
            <a:r>
              <a:t>Flight excursion</a:t>
            </a:r>
          </a:p>
        </p:txBody>
      </p:sp>
      <p:sp>
        <p:nvSpPr>
          <p:cNvPr id="22" name="TextBox 21"/>
          <p:cNvSpPr txBox="1"/>
          <p:nvPr/>
        </p:nvSpPr>
        <p:spPr>
          <a:xfrm>
            <a:off x="4553712" y="4910328"/>
            <a:ext cx="3401568" cy="594360"/>
          </a:xfrm>
          <a:prstGeom prst="rect">
            <a:avLst/>
          </a:prstGeom>
          <a:noFill/>
        </p:spPr>
        <p:txBody>
          <a:bodyPr wrap="square" lIns="0" rIns="0" tIns="0" bIns="0">
            <a:spAutoFit/>
          </a:bodyPr>
          <a:lstStyle/>
          <a:p>
            <a:pPr algn="l">
              <a:spcAft>
                <a:spcPts val="300"/>
              </a:spcAft>
              <a:defRPr sz="1800" b="0">
                <a:solidFill>
                  <a:srgbClr val="5B6C72"/>
                </a:solidFill>
                <a:latin typeface="Segoe UI"/>
              </a:defRPr>
            </a:pPr>
            <a:r>
              <a:t>Setpoint rises for 4 hours</a:t>
            </a:r>
          </a:p>
        </p:txBody>
      </p:sp>
      <p:cxnSp>
        <p:nvCxnSpPr>
          <p:cNvPr id="23" name="Connector 22"/>
          <p:cNvCxnSpPr/>
          <p:nvPr/>
        </p:nvCxnSpPr>
        <p:spPr>
          <a:xfrm>
            <a:off x="8394192" y="4169664"/>
            <a:ext cx="3401568" cy="0"/>
          </a:xfrm>
          <a:prstGeom prst="line">
            <a:avLst/>
          </a:prstGeom>
          <a:ln w="1270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394192" y="4343400"/>
            <a:ext cx="3429000" cy="420624"/>
          </a:xfrm>
          <a:prstGeom prst="rect">
            <a:avLst/>
          </a:prstGeom>
          <a:noFill/>
        </p:spPr>
        <p:txBody>
          <a:bodyPr wrap="square" lIns="0" rIns="0" tIns="0" bIns="0">
            <a:spAutoFit/>
          </a:bodyPr>
          <a:lstStyle/>
          <a:p>
            <a:pPr algn="l">
              <a:spcAft>
                <a:spcPts val="300"/>
              </a:spcAft>
              <a:defRPr sz="2300" b="1">
                <a:solidFill>
                  <a:srgbClr val="172F36"/>
                </a:solidFill>
                <a:latin typeface="Segoe UI"/>
              </a:defRPr>
            </a:pPr>
            <a:r>
              <a:t>Combined failures</a:t>
            </a:r>
          </a:p>
        </p:txBody>
      </p:sp>
      <p:sp>
        <p:nvSpPr>
          <p:cNvPr id="25" name="TextBox 24"/>
          <p:cNvSpPr txBox="1"/>
          <p:nvPr/>
        </p:nvSpPr>
        <p:spPr>
          <a:xfrm>
            <a:off x="8394192" y="4910328"/>
            <a:ext cx="3401568" cy="594360"/>
          </a:xfrm>
          <a:prstGeom prst="rect">
            <a:avLst/>
          </a:prstGeom>
          <a:noFill/>
        </p:spPr>
        <p:txBody>
          <a:bodyPr wrap="square" lIns="0" rIns="0" tIns="0" bIns="0">
            <a:spAutoFit/>
          </a:bodyPr>
          <a:lstStyle/>
          <a:p>
            <a:pPr algn="l">
              <a:spcAft>
                <a:spcPts val="300"/>
              </a:spcAft>
              <a:defRPr sz="1800" b="0">
                <a:solidFill>
                  <a:srgbClr val="5B6C72"/>
                </a:solidFill>
                <a:latin typeface="Segoe UI"/>
              </a:defRPr>
            </a:pPr>
            <a:r>
              <a:t>Road, airport and flight together</a:t>
            </a:r>
          </a:p>
        </p:txBody>
      </p:sp>
      <p:sp>
        <p:nvSpPr>
          <p:cNvPr id="26" name="TextBox 25"/>
          <p:cNvSpPr txBox="1"/>
          <p:nvPr/>
        </p:nvSpPr>
        <p:spPr>
          <a:xfrm>
            <a:off x="731520" y="5852160"/>
            <a:ext cx="10698480" cy="228600"/>
          </a:xfrm>
          <a:prstGeom prst="rect">
            <a:avLst/>
          </a:prstGeom>
          <a:noFill/>
        </p:spPr>
        <p:txBody>
          <a:bodyPr wrap="square" lIns="0" rIns="0" tIns="0" bIns="0">
            <a:spAutoFit/>
          </a:bodyPr>
          <a:lstStyle/>
          <a:p>
            <a:pPr algn="l">
              <a:spcAft>
                <a:spcPts val="300"/>
              </a:spcAft>
              <a:defRPr sz="1250" b="0">
                <a:solidFill>
                  <a:srgbClr val="5B6C72"/>
                </a:solidFill>
                <a:latin typeface="Segoe UI"/>
              </a:defRPr>
            </a:pPr>
            <a:r>
              <a:t>Processing and arrival delays were also tested. All routes and disruptions are hypothetical.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94360" y="329184"/>
            <a:ext cx="10058400" cy="274320"/>
          </a:xfrm>
          <a:prstGeom prst="rect">
            <a:avLst/>
          </a:prstGeom>
          <a:noFill/>
        </p:spPr>
        <p:txBody>
          <a:bodyPr wrap="square" lIns="0" rIns="0" tIns="0" bIns="0">
            <a:spAutoFit/>
          </a:bodyPr>
          <a:lstStyle/>
          <a:p>
            <a:pPr algn="l">
              <a:spcAft>
                <a:spcPts val="300"/>
              </a:spcAft>
              <a:defRPr sz="1050" b="1">
                <a:solidFill>
                  <a:srgbClr val="5B6C72"/>
                </a:solidFill>
                <a:latin typeface="Segoe UI"/>
              </a:defRPr>
            </a:pPr>
            <a:r>
              <a:t>WHAT WE FOUND</a:t>
            </a:r>
          </a:p>
        </p:txBody>
      </p:sp>
      <p:cxnSp>
        <p:nvCxnSpPr>
          <p:cNvPr id="3" name="Connector 2"/>
          <p:cNvCxnSpPr/>
          <p:nvPr/>
        </p:nvCxnSpPr>
        <p:spPr>
          <a:xfrm>
            <a:off x="594360" y="6382512"/>
            <a:ext cx="11000232" cy="0"/>
          </a:xfrm>
          <a:prstGeom prst="line">
            <a:avLst/>
          </a:prstGeom>
          <a:ln w="1016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92240"/>
            <a:ext cx="8229600" cy="182880"/>
          </a:xfrm>
          <a:prstGeom prst="rect">
            <a:avLst/>
          </a:prstGeom>
          <a:noFill/>
        </p:spPr>
        <p:txBody>
          <a:bodyPr wrap="square" lIns="0" rIns="0" tIns="0" bIns="0">
            <a:spAutoFit/>
          </a:bodyPr>
          <a:lstStyle/>
          <a:p>
            <a:pPr algn="l">
              <a:spcAft>
                <a:spcPts val="300"/>
              </a:spcAft>
              <a:defRPr sz="900" b="0">
                <a:solidFill>
                  <a:srgbClr val="5B6C72"/>
                </a:solidFill>
                <a:latin typeface="Segoe UI"/>
              </a:defRPr>
            </a:pPr>
            <a:r>
              <a:t>INDIAN FISHERIES  /  COLD-CHAIN RESEARCH</a:t>
            </a:r>
          </a:p>
        </p:txBody>
      </p:sp>
      <p:sp>
        <p:nvSpPr>
          <p:cNvPr id="5" name="TextBox 4"/>
          <p:cNvSpPr txBox="1"/>
          <p:nvPr/>
        </p:nvSpPr>
        <p:spPr>
          <a:xfrm>
            <a:off x="11018520" y="6464808"/>
            <a:ext cx="566928" cy="228600"/>
          </a:xfrm>
          <a:prstGeom prst="rect">
            <a:avLst/>
          </a:prstGeom>
          <a:noFill/>
        </p:spPr>
        <p:txBody>
          <a:bodyPr wrap="square" lIns="0" rIns="0" tIns="0" bIns="0">
            <a:spAutoFit/>
          </a:bodyPr>
          <a:lstStyle/>
          <a:p>
            <a:pPr algn="r">
              <a:spcAft>
                <a:spcPts val="300"/>
              </a:spcAft>
              <a:defRPr sz="950" b="0">
                <a:solidFill>
                  <a:srgbClr val="5B6C72"/>
                </a:solidFill>
                <a:latin typeface="Segoe UI"/>
              </a:defRPr>
            </a:pPr>
            <a:r>
              <a:t>09 / 12</a:t>
            </a:r>
          </a:p>
        </p:txBody>
      </p:sp>
      <p:sp>
        <p:nvSpPr>
          <p:cNvPr id="6" name="TextBox 5"/>
          <p:cNvSpPr txBox="1"/>
          <p:nvPr/>
        </p:nvSpPr>
        <p:spPr>
          <a:xfrm>
            <a:off x="594360" y="832104"/>
            <a:ext cx="10927080" cy="1024128"/>
          </a:xfrm>
          <a:prstGeom prst="rect">
            <a:avLst/>
          </a:prstGeom>
          <a:noFill/>
        </p:spPr>
        <p:txBody>
          <a:bodyPr wrap="square" lIns="0" rIns="0" tIns="0" bIns="0">
            <a:spAutoFit/>
          </a:bodyPr>
          <a:lstStyle/>
          <a:p>
            <a:pPr algn="l">
              <a:spcAft>
                <a:spcPts val="300"/>
              </a:spcAft>
              <a:defRPr sz="3300" b="1">
                <a:solidFill>
                  <a:srgbClr val="172F36"/>
                </a:solidFill>
                <a:latin typeface="Segoe UI"/>
              </a:defRPr>
            </a:pPr>
            <a:r>
              <a:t>Road cooling failure added the most exposure.</a:t>
            </a:r>
          </a:p>
        </p:txBody>
      </p:sp>
      <p:sp>
        <p:nvSpPr>
          <p:cNvPr id="7" name="TextBox 6"/>
          <p:cNvSpPr txBox="1"/>
          <p:nvPr/>
        </p:nvSpPr>
        <p:spPr>
          <a:xfrm>
            <a:off x="621792" y="1847088"/>
            <a:ext cx="10607040" cy="566928"/>
          </a:xfrm>
          <a:prstGeom prst="rect">
            <a:avLst/>
          </a:prstGeom>
          <a:noFill/>
        </p:spPr>
        <p:txBody>
          <a:bodyPr wrap="square" lIns="0" rIns="0" tIns="0" bIns="0">
            <a:spAutoFit/>
          </a:bodyPr>
          <a:lstStyle/>
          <a:p>
            <a:pPr algn="l">
              <a:spcAft>
                <a:spcPts val="300"/>
              </a:spcAft>
              <a:defRPr sz="1800" b="0">
                <a:solidFill>
                  <a:srgbClr val="5B6C72"/>
                </a:solidFill>
                <a:latin typeface="Segoe UI"/>
              </a:defRPr>
            </a:pPr>
            <a:r>
              <a:t>Among the configured single-disruption air-route scenarios</a:t>
            </a:r>
          </a:p>
        </p:txBody>
      </p:sp>
      <p:sp>
        <p:nvSpPr>
          <p:cNvPr id="8" name="TextBox 7"/>
          <p:cNvSpPr txBox="1"/>
          <p:nvPr/>
        </p:nvSpPr>
        <p:spPr>
          <a:xfrm>
            <a:off x="731520" y="2459736"/>
            <a:ext cx="6858000" cy="274320"/>
          </a:xfrm>
          <a:prstGeom prst="rect">
            <a:avLst/>
          </a:prstGeom>
          <a:noFill/>
        </p:spPr>
        <p:txBody>
          <a:bodyPr wrap="square" lIns="0" rIns="0" tIns="0" bIns="0">
            <a:spAutoFit/>
          </a:bodyPr>
          <a:lstStyle/>
          <a:p>
            <a:pPr algn="l">
              <a:spcAft>
                <a:spcPts val="300"/>
              </a:spcAft>
              <a:defRPr sz="1100" b="1">
                <a:solidFill>
                  <a:srgbClr val="5B6C72"/>
                </a:solidFill>
                <a:latin typeface="Segoe UI"/>
              </a:defRPr>
            </a:pPr>
            <a:r>
              <a:t>ADDED EXPOSURE VS NORMAL COOLING  ·  °C·h ABOVE 2 °C</a:t>
            </a:r>
          </a:p>
        </p:txBody>
      </p:sp>
      <p:sp>
        <p:nvSpPr>
          <p:cNvPr id="9" name="TextBox 8"/>
          <p:cNvSpPr txBox="1"/>
          <p:nvPr/>
        </p:nvSpPr>
        <p:spPr>
          <a:xfrm>
            <a:off x="731520" y="2930652"/>
            <a:ext cx="2487168" cy="310896"/>
          </a:xfrm>
          <a:prstGeom prst="rect">
            <a:avLst/>
          </a:prstGeom>
          <a:noFill/>
        </p:spPr>
        <p:txBody>
          <a:bodyPr wrap="square" lIns="0" rIns="0" tIns="0" bIns="0">
            <a:spAutoFit/>
          </a:bodyPr>
          <a:lstStyle/>
          <a:p>
            <a:pPr algn="l">
              <a:spcAft>
                <a:spcPts val="300"/>
              </a:spcAft>
              <a:defRPr sz="1650" b="0">
                <a:solidFill>
                  <a:srgbClr val="172F36"/>
                </a:solidFill>
                <a:latin typeface="Segoe UI"/>
              </a:defRPr>
            </a:pPr>
            <a:r>
              <a:t>Road cooling failure</a:t>
            </a:r>
          </a:p>
        </p:txBody>
      </p:sp>
      <p:sp>
        <p:nvSpPr>
          <p:cNvPr id="10" name="Rectangle 9"/>
          <p:cNvSpPr/>
          <p:nvPr/>
        </p:nvSpPr>
        <p:spPr>
          <a:xfrm>
            <a:off x="3273552" y="2971800"/>
            <a:ext cx="3435738" cy="210312"/>
          </a:xfrm>
          <a:prstGeom prst="rect">
            <a:avLst/>
          </a:prstGeom>
          <a:solidFill>
            <a:srgbClr val="167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46450" y="2921508"/>
            <a:ext cx="685800" cy="320040"/>
          </a:xfrm>
          <a:prstGeom prst="rect">
            <a:avLst/>
          </a:prstGeom>
          <a:noFill/>
        </p:spPr>
        <p:txBody>
          <a:bodyPr wrap="square" lIns="0" rIns="0" tIns="0" bIns="0">
            <a:spAutoFit/>
          </a:bodyPr>
          <a:lstStyle/>
          <a:p>
            <a:pPr algn="l">
              <a:spcAft>
                <a:spcPts val="300"/>
              </a:spcAft>
              <a:defRPr sz="1700" b="1">
                <a:solidFill>
                  <a:srgbClr val="172F36"/>
                </a:solidFill>
                <a:latin typeface="Segoe UI"/>
              </a:defRPr>
            </a:pPr>
            <a:r>
              <a:t>55.8</a:t>
            </a:r>
          </a:p>
        </p:txBody>
      </p:sp>
      <p:sp>
        <p:nvSpPr>
          <p:cNvPr id="12" name="TextBox 11"/>
          <p:cNvSpPr txBox="1"/>
          <p:nvPr/>
        </p:nvSpPr>
        <p:spPr>
          <a:xfrm>
            <a:off x="731520" y="3323844"/>
            <a:ext cx="2487168" cy="310896"/>
          </a:xfrm>
          <a:prstGeom prst="rect">
            <a:avLst/>
          </a:prstGeom>
          <a:noFill/>
        </p:spPr>
        <p:txBody>
          <a:bodyPr wrap="square" lIns="0" rIns="0" tIns="0" bIns="0">
            <a:spAutoFit/>
          </a:bodyPr>
          <a:lstStyle/>
          <a:p>
            <a:pPr algn="l">
              <a:spcAft>
                <a:spcPts val="300"/>
              </a:spcAft>
              <a:defRPr sz="1650" b="0">
                <a:solidFill>
                  <a:srgbClr val="172F36"/>
                </a:solidFill>
                <a:latin typeface="Segoe UI"/>
              </a:defRPr>
            </a:pPr>
            <a:r>
              <a:t>Airport delay / door</a:t>
            </a:r>
          </a:p>
        </p:txBody>
      </p:sp>
      <p:sp>
        <p:nvSpPr>
          <p:cNvPr id="13" name="Rectangle 12"/>
          <p:cNvSpPr/>
          <p:nvPr/>
        </p:nvSpPr>
        <p:spPr>
          <a:xfrm>
            <a:off x="3273552" y="3364992"/>
            <a:ext cx="2296563" cy="210312"/>
          </a:xfrm>
          <a:prstGeom prst="rect">
            <a:avLst/>
          </a:prstGeom>
          <a:solidFill>
            <a:srgbClr val="BACD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07275" y="3314700"/>
            <a:ext cx="685800" cy="320040"/>
          </a:xfrm>
          <a:prstGeom prst="rect">
            <a:avLst/>
          </a:prstGeom>
          <a:noFill/>
        </p:spPr>
        <p:txBody>
          <a:bodyPr wrap="square" lIns="0" rIns="0" tIns="0" bIns="0">
            <a:spAutoFit/>
          </a:bodyPr>
          <a:lstStyle/>
          <a:p>
            <a:pPr algn="l">
              <a:spcAft>
                <a:spcPts val="300"/>
              </a:spcAft>
              <a:defRPr sz="1700" b="0">
                <a:solidFill>
                  <a:srgbClr val="172F36"/>
                </a:solidFill>
                <a:latin typeface="Segoe UI"/>
              </a:defRPr>
            </a:pPr>
            <a:r>
              <a:t>37.3</a:t>
            </a:r>
          </a:p>
        </p:txBody>
      </p:sp>
      <p:sp>
        <p:nvSpPr>
          <p:cNvPr id="15" name="TextBox 14"/>
          <p:cNvSpPr txBox="1"/>
          <p:nvPr/>
        </p:nvSpPr>
        <p:spPr>
          <a:xfrm>
            <a:off x="731520" y="3717036"/>
            <a:ext cx="2487168" cy="310896"/>
          </a:xfrm>
          <a:prstGeom prst="rect">
            <a:avLst/>
          </a:prstGeom>
          <a:noFill/>
        </p:spPr>
        <p:txBody>
          <a:bodyPr wrap="square" lIns="0" rIns="0" tIns="0" bIns="0">
            <a:spAutoFit/>
          </a:bodyPr>
          <a:lstStyle/>
          <a:p>
            <a:pPr algn="l">
              <a:spcAft>
                <a:spcPts val="300"/>
              </a:spcAft>
              <a:defRPr sz="1650" b="0">
                <a:solidFill>
                  <a:srgbClr val="172F36"/>
                </a:solidFill>
                <a:latin typeface="Segoe UI"/>
              </a:defRPr>
            </a:pPr>
            <a:r>
              <a:t>Warmer storage</a:t>
            </a:r>
          </a:p>
        </p:txBody>
      </p:sp>
      <p:sp>
        <p:nvSpPr>
          <p:cNvPr id="16" name="Rectangle 15"/>
          <p:cNvSpPr/>
          <p:nvPr/>
        </p:nvSpPr>
        <p:spPr>
          <a:xfrm>
            <a:off x="3273552" y="3758184"/>
            <a:ext cx="1509701" cy="210312"/>
          </a:xfrm>
          <a:prstGeom prst="rect">
            <a:avLst/>
          </a:prstGeom>
          <a:solidFill>
            <a:srgbClr val="BACD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20413" y="3707892"/>
            <a:ext cx="685800" cy="320040"/>
          </a:xfrm>
          <a:prstGeom prst="rect">
            <a:avLst/>
          </a:prstGeom>
          <a:noFill/>
        </p:spPr>
        <p:txBody>
          <a:bodyPr wrap="square" lIns="0" rIns="0" tIns="0" bIns="0">
            <a:spAutoFit/>
          </a:bodyPr>
          <a:lstStyle/>
          <a:p>
            <a:pPr algn="l">
              <a:spcAft>
                <a:spcPts val="300"/>
              </a:spcAft>
              <a:defRPr sz="1700" b="0">
                <a:solidFill>
                  <a:srgbClr val="172F36"/>
                </a:solidFill>
                <a:latin typeface="Segoe UI"/>
              </a:defRPr>
            </a:pPr>
            <a:r>
              <a:t>24.5</a:t>
            </a:r>
          </a:p>
        </p:txBody>
      </p:sp>
      <p:sp>
        <p:nvSpPr>
          <p:cNvPr id="18" name="TextBox 17"/>
          <p:cNvSpPr txBox="1"/>
          <p:nvPr/>
        </p:nvSpPr>
        <p:spPr>
          <a:xfrm>
            <a:off x="731520" y="4110228"/>
            <a:ext cx="2487168" cy="310896"/>
          </a:xfrm>
          <a:prstGeom prst="rect">
            <a:avLst/>
          </a:prstGeom>
          <a:noFill/>
        </p:spPr>
        <p:txBody>
          <a:bodyPr wrap="square" lIns="0" rIns="0" tIns="0" bIns="0">
            <a:spAutoFit/>
          </a:bodyPr>
          <a:lstStyle/>
          <a:p>
            <a:pPr algn="l">
              <a:spcAft>
                <a:spcPts val="300"/>
              </a:spcAft>
              <a:defRPr sz="1650" b="0">
                <a:solidFill>
                  <a:srgbClr val="172F36"/>
                </a:solidFill>
                <a:latin typeface="Segoe UI"/>
              </a:defRPr>
            </a:pPr>
            <a:r>
              <a:t>Flight excursion</a:t>
            </a:r>
          </a:p>
        </p:txBody>
      </p:sp>
      <p:sp>
        <p:nvSpPr>
          <p:cNvPr id="19" name="Rectangle 18"/>
          <p:cNvSpPr/>
          <p:nvPr/>
        </p:nvSpPr>
        <p:spPr>
          <a:xfrm>
            <a:off x="3273552" y="4151376"/>
            <a:ext cx="1231386" cy="210312"/>
          </a:xfrm>
          <a:prstGeom prst="rect">
            <a:avLst/>
          </a:prstGeom>
          <a:solidFill>
            <a:srgbClr val="BACD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42098" y="4101084"/>
            <a:ext cx="685800" cy="320040"/>
          </a:xfrm>
          <a:prstGeom prst="rect">
            <a:avLst/>
          </a:prstGeom>
          <a:noFill/>
        </p:spPr>
        <p:txBody>
          <a:bodyPr wrap="square" lIns="0" rIns="0" tIns="0" bIns="0">
            <a:spAutoFit/>
          </a:bodyPr>
          <a:lstStyle/>
          <a:p>
            <a:pPr algn="l">
              <a:spcAft>
                <a:spcPts val="300"/>
              </a:spcAft>
              <a:defRPr sz="1700" b="0">
                <a:solidFill>
                  <a:srgbClr val="172F36"/>
                </a:solidFill>
                <a:latin typeface="Segoe UI"/>
              </a:defRPr>
            </a:pPr>
            <a:r>
              <a:t>20.0</a:t>
            </a:r>
          </a:p>
        </p:txBody>
      </p:sp>
      <p:sp>
        <p:nvSpPr>
          <p:cNvPr id="21" name="TextBox 20"/>
          <p:cNvSpPr txBox="1"/>
          <p:nvPr/>
        </p:nvSpPr>
        <p:spPr>
          <a:xfrm>
            <a:off x="731520" y="4503420"/>
            <a:ext cx="2487168" cy="310896"/>
          </a:xfrm>
          <a:prstGeom prst="rect">
            <a:avLst/>
          </a:prstGeom>
          <a:noFill/>
        </p:spPr>
        <p:txBody>
          <a:bodyPr wrap="square" lIns="0" rIns="0" tIns="0" bIns="0">
            <a:spAutoFit/>
          </a:bodyPr>
          <a:lstStyle/>
          <a:p>
            <a:pPr algn="l">
              <a:spcAft>
                <a:spcPts val="300"/>
              </a:spcAft>
              <a:defRPr sz="1650" b="0">
                <a:solidFill>
                  <a:srgbClr val="172F36"/>
                </a:solidFill>
                <a:latin typeface="Segoe UI"/>
              </a:defRPr>
            </a:pPr>
            <a:r>
              <a:t>Arrival delay</a:t>
            </a:r>
          </a:p>
        </p:txBody>
      </p:sp>
      <p:sp>
        <p:nvSpPr>
          <p:cNvPr id="22" name="Rectangle 21"/>
          <p:cNvSpPr/>
          <p:nvPr/>
        </p:nvSpPr>
        <p:spPr>
          <a:xfrm>
            <a:off x="3273552" y="4544568"/>
            <a:ext cx="276731" cy="210312"/>
          </a:xfrm>
          <a:prstGeom prst="rect">
            <a:avLst/>
          </a:prstGeom>
          <a:solidFill>
            <a:srgbClr val="BACD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87443" y="4494276"/>
            <a:ext cx="685800" cy="320040"/>
          </a:xfrm>
          <a:prstGeom prst="rect">
            <a:avLst/>
          </a:prstGeom>
          <a:noFill/>
        </p:spPr>
        <p:txBody>
          <a:bodyPr wrap="square" lIns="0" rIns="0" tIns="0" bIns="0">
            <a:spAutoFit/>
          </a:bodyPr>
          <a:lstStyle/>
          <a:p>
            <a:pPr algn="l">
              <a:spcAft>
                <a:spcPts val="300"/>
              </a:spcAft>
              <a:defRPr sz="1700" b="0">
                <a:solidFill>
                  <a:srgbClr val="172F36"/>
                </a:solidFill>
                <a:latin typeface="Segoe UI"/>
              </a:defRPr>
            </a:pPr>
            <a:r>
              <a:t>4.5</a:t>
            </a:r>
          </a:p>
        </p:txBody>
      </p:sp>
      <p:sp>
        <p:nvSpPr>
          <p:cNvPr id="24" name="TextBox 23"/>
          <p:cNvSpPr txBox="1"/>
          <p:nvPr/>
        </p:nvSpPr>
        <p:spPr>
          <a:xfrm>
            <a:off x="731520" y="4896612"/>
            <a:ext cx="2487168" cy="310896"/>
          </a:xfrm>
          <a:prstGeom prst="rect">
            <a:avLst/>
          </a:prstGeom>
          <a:noFill/>
        </p:spPr>
        <p:txBody>
          <a:bodyPr wrap="square" lIns="0" rIns="0" tIns="0" bIns="0">
            <a:spAutoFit/>
          </a:bodyPr>
          <a:lstStyle/>
          <a:p>
            <a:pPr algn="l">
              <a:spcAft>
                <a:spcPts val="300"/>
              </a:spcAft>
              <a:defRPr sz="1650" b="0">
                <a:solidFill>
                  <a:srgbClr val="172F36"/>
                </a:solidFill>
                <a:latin typeface="Segoe UI"/>
              </a:defRPr>
            </a:pPr>
            <a:r>
              <a:t>Processing delay</a:t>
            </a:r>
          </a:p>
        </p:txBody>
      </p:sp>
      <p:sp>
        <p:nvSpPr>
          <p:cNvPr id="25" name="Rectangle 24"/>
          <p:cNvSpPr/>
          <p:nvPr/>
        </p:nvSpPr>
        <p:spPr>
          <a:xfrm>
            <a:off x="3273552" y="4937760"/>
            <a:ext cx="184665" cy="210312"/>
          </a:xfrm>
          <a:prstGeom prst="rect">
            <a:avLst/>
          </a:prstGeom>
          <a:solidFill>
            <a:srgbClr val="BACD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95377" y="4887468"/>
            <a:ext cx="685800" cy="320040"/>
          </a:xfrm>
          <a:prstGeom prst="rect">
            <a:avLst/>
          </a:prstGeom>
          <a:noFill/>
        </p:spPr>
        <p:txBody>
          <a:bodyPr wrap="square" lIns="0" rIns="0" tIns="0" bIns="0">
            <a:spAutoFit/>
          </a:bodyPr>
          <a:lstStyle/>
          <a:p>
            <a:pPr algn="l">
              <a:spcAft>
                <a:spcPts val="300"/>
              </a:spcAft>
              <a:defRPr sz="1700" b="0">
                <a:solidFill>
                  <a:srgbClr val="172F36"/>
                </a:solidFill>
                <a:latin typeface="Segoe UI"/>
              </a:defRPr>
            </a:pPr>
            <a:r>
              <a:t>3.0</a:t>
            </a:r>
          </a:p>
        </p:txBody>
      </p:sp>
      <p:cxnSp>
        <p:nvCxnSpPr>
          <p:cNvPr id="27" name="Connector 26"/>
          <p:cNvCxnSpPr/>
          <p:nvPr/>
        </p:nvCxnSpPr>
        <p:spPr>
          <a:xfrm>
            <a:off x="7909560" y="2880360"/>
            <a:ext cx="0" cy="2651760"/>
          </a:xfrm>
          <a:prstGeom prst="line">
            <a:avLst/>
          </a:prstGeom>
          <a:ln w="1270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275320" y="2953512"/>
            <a:ext cx="2788920" cy="905256"/>
          </a:xfrm>
          <a:prstGeom prst="rect">
            <a:avLst/>
          </a:prstGeom>
          <a:noFill/>
        </p:spPr>
        <p:txBody>
          <a:bodyPr wrap="square" lIns="0" rIns="0" tIns="0" bIns="0">
            <a:spAutoFit/>
          </a:bodyPr>
          <a:lstStyle/>
          <a:p>
            <a:pPr algn="l">
              <a:spcAft>
                <a:spcPts val="300"/>
              </a:spcAft>
              <a:defRPr sz="5800" b="1">
                <a:solidFill>
                  <a:srgbClr val="167C88"/>
                </a:solidFill>
                <a:latin typeface="Segoe UI"/>
              </a:defRPr>
            </a:pPr>
            <a:r>
              <a:t>55.8</a:t>
            </a:r>
          </a:p>
        </p:txBody>
      </p:sp>
      <p:sp>
        <p:nvSpPr>
          <p:cNvPr id="29" name="TextBox 28"/>
          <p:cNvSpPr txBox="1"/>
          <p:nvPr/>
        </p:nvSpPr>
        <p:spPr>
          <a:xfrm>
            <a:off x="8321040" y="4014215"/>
            <a:ext cx="2587752" cy="475488"/>
          </a:xfrm>
          <a:prstGeom prst="rect">
            <a:avLst/>
          </a:prstGeom>
          <a:noFill/>
        </p:spPr>
        <p:txBody>
          <a:bodyPr wrap="square" lIns="0" rIns="0" tIns="0" bIns="0">
            <a:spAutoFit/>
          </a:bodyPr>
          <a:lstStyle/>
          <a:p>
            <a:pPr algn="l">
              <a:spcAft>
                <a:spcPts val="300"/>
              </a:spcAft>
              <a:defRPr sz="2200" b="0">
                <a:solidFill>
                  <a:srgbClr val="172F36"/>
                </a:solidFill>
                <a:latin typeface="Segoe UI"/>
              </a:defRPr>
            </a:pPr>
            <a:r>
              <a:t>additional °C·h</a:t>
            </a:r>
          </a:p>
        </p:txBody>
      </p:sp>
      <p:sp>
        <p:nvSpPr>
          <p:cNvPr id="30" name="TextBox 29"/>
          <p:cNvSpPr txBox="1"/>
          <p:nvPr/>
        </p:nvSpPr>
        <p:spPr>
          <a:xfrm>
            <a:off x="8321040" y="4645152"/>
            <a:ext cx="2578608" cy="804672"/>
          </a:xfrm>
          <a:prstGeom prst="rect">
            <a:avLst/>
          </a:prstGeom>
          <a:noFill/>
        </p:spPr>
        <p:txBody>
          <a:bodyPr wrap="square" lIns="0" rIns="0" tIns="0" bIns="0">
            <a:spAutoFit/>
          </a:bodyPr>
          <a:lstStyle/>
          <a:p>
            <a:pPr algn="l">
              <a:spcAft>
                <a:spcPts val="300"/>
              </a:spcAft>
              <a:defRPr sz="1800" b="0">
                <a:solidFill>
                  <a:srgbClr val="5B6C72"/>
                </a:solidFill>
                <a:latin typeface="Segoe UI"/>
              </a:defRPr>
            </a:pPr>
            <a:r>
              <a:t>from a 2-hour</a:t>
            </a:r>
          </a:p>
          <a:p>
            <a:pPr algn="l">
              <a:spcAft>
                <a:spcPts val="300"/>
              </a:spcAft>
              <a:defRPr sz="1800" b="0">
                <a:solidFill>
                  <a:srgbClr val="5B6C72"/>
                </a:solidFill>
                <a:latin typeface="Segoe UI"/>
              </a:defRPr>
            </a:pPr>
            <a:r>
              <a:t>road cooling failure</a:t>
            </a:r>
          </a:p>
        </p:txBody>
      </p:sp>
      <p:sp>
        <p:nvSpPr>
          <p:cNvPr id="31" name="TextBox 30"/>
          <p:cNvSpPr txBox="1"/>
          <p:nvPr/>
        </p:nvSpPr>
        <p:spPr>
          <a:xfrm>
            <a:off x="731520" y="5870448"/>
            <a:ext cx="10698480" cy="283464"/>
          </a:xfrm>
          <a:prstGeom prst="rect">
            <a:avLst/>
          </a:prstGeom>
          <a:noFill/>
        </p:spPr>
        <p:txBody>
          <a:bodyPr wrap="square" lIns="0" rIns="0" tIns="0" bIns="0">
            <a:spAutoFit/>
          </a:bodyPr>
          <a:lstStyle/>
          <a:p>
            <a:pPr algn="l">
              <a:spcAft>
                <a:spcPts val="300"/>
              </a:spcAft>
              <a:defRPr sz="1250" b="0">
                <a:solidFill>
                  <a:srgbClr val="5B6C72"/>
                </a:solidFill>
                <a:latin typeface="Segoe UI"/>
              </a:defRPr>
            </a:pPr>
            <a:r>
              <a:t>Simulated air · Hypothetical 47 h route · Disruption sizes differ, so this is a conditional ranking.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94360" y="329184"/>
            <a:ext cx="10058400" cy="274320"/>
          </a:xfrm>
          <a:prstGeom prst="rect">
            <a:avLst/>
          </a:prstGeom>
          <a:noFill/>
        </p:spPr>
        <p:txBody>
          <a:bodyPr wrap="square" lIns="0" rIns="0" tIns="0" bIns="0">
            <a:spAutoFit/>
          </a:bodyPr>
          <a:lstStyle/>
          <a:p>
            <a:pPr algn="l">
              <a:spcAft>
                <a:spcPts val="300"/>
              </a:spcAft>
              <a:defRPr sz="1050" b="1">
                <a:solidFill>
                  <a:srgbClr val="5B6C72"/>
                </a:solidFill>
                <a:latin typeface="Segoe UI"/>
              </a:defRPr>
            </a:pPr>
            <a:r>
              <a:t>HOW WE CHECKED IT</a:t>
            </a:r>
          </a:p>
        </p:txBody>
      </p:sp>
      <p:cxnSp>
        <p:nvCxnSpPr>
          <p:cNvPr id="3" name="Connector 2"/>
          <p:cNvCxnSpPr/>
          <p:nvPr/>
        </p:nvCxnSpPr>
        <p:spPr>
          <a:xfrm>
            <a:off x="594360" y="6382512"/>
            <a:ext cx="11000232" cy="0"/>
          </a:xfrm>
          <a:prstGeom prst="line">
            <a:avLst/>
          </a:prstGeom>
          <a:ln w="1016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92240"/>
            <a:ext cx="8229600" cy="182880"/>
          </a:xfrm>
          <a:prstGeom prst="rect">
            <a:avLst/>
          </a:prstGeom>
          <a:noFill/>
        </p:spPr>
        <p:txBody>
          <a:bodyPr wrap="square" lIns="0" rIns="0" tIns="0" bIns="0">
            <a:spAutoFit/>
          </a:bodyPr>
          <a:lstStyle/>
          <a:p>
            <a:pPr algn="l">
              <a:spcAft>
                <a:spcPts val="300"/>
              </a:spcAft>
              <a:defRPr sz="900" b="0">
                <a:solidFill>
                  <a:srgbClr val="5B6C72"/>
                </a:solidFill>
                <a:latin typeface="Segoe UI"/>
              </a:defRPr>
            </a:pPr>
            <a:r>
              <a:t>INDIAN FISHERIES  /  COLD-CHAIN RESEARCH</a:t>
            </a:r>
          </a:p>
        </p:txBody>
      </p:sp>
      <p:sp>
        <p:nvSpPr>
          <p:cNvPr id="5" name="TextBox 4"/>
          <p:cNvSpPr txBox="1"/>
          <p:nvPr/>
        </p:nvSpPr>
        <p:spPr>
          <a:xfrm>
            <a:off x="11018520" y="6464808"/>
            <a:ext cx="566928" cy="228600"/>
          </a:xfrm>
          <a:prstGeom prst="rect">
            <a:avLst/>
          </a:prstGeom>
          <a:noFill/>
        </p:spPr>
        <p:txBody>
          <a:bodyPr wrap="square" lIns="0" rIns="0" tIns="0" bIns="0">
            <a:spAutoFit/>
          </a:bodyPr>
          <a:lstStyle/>
          <a:p>
            <a:pPr algn="r">
              <a:spcAft>
                <a:spcPts val="300"/>
              </a:spcAft>
              <a:defRPr sz="950" b="0">
                <a:solidFill>
                  <a:srgbClr val="5B6C72"/>
                </a:solidFill>
                <a:latin typeface="Segoe UI"/>
              </a:defRPr>
            </a:pPr>
            <a:r>
              <a:t>10 / 12</a:t>
            </a:r>
          </a:p>
        </p:txBody>
      </p:sp>
      <p:sp>
        <p:nvSpPr>
          <p:cNvPr id="6" name="TextBox 5"/>
          <p:cNvSpPr txBox="1"/>
          <p:nvPr/>
        </p:nvSpPr>
        <p:spPr>
          <a:xfrm>
            <a:off x="594360" y="832104"/>
            <a:ext cx="10927080" cy="1024128"/>
          </a:xfrm>
          <a:prstGeom prst="rect">
            <a:avLst/>
          </a:prstGeom>
          <a:noFill/>
        </p:spPr>
        <p:txBody>
          <a:bodyPr wrap="square" lIns="0" rIns="0" tIns="0" bIns="0">
            <a:spAutoFit/>
          </a:bodyPr>
          <a:lstStyle/>
          <a:p>
            <a:pPr algn="l">
              <a:spcAft>
                <a:spcPts val="300"/>
              </a:spcAft>
              <a:defRPr sz="3300" b="1">
                <a:solidFill>
                  <a:srgbClr val="172F36"/>
                </a:solidFill>
                <a:latin typeface="Segoe UI"/>
              </a:defRPr>
            </a:pPr>
            <a:r>
              <a:t>The road result held across most tested assumptions.</a:t>
            </a:r>
          </a:p>
        </p:txBody>
      </p:sp>
      <p:sp>
        <p:nvSpPr>
          <p:cNvPr id="7" name="TextBox 6"/>
          <p:cNvSpPr txBox="1"/>
          <p:nvPr/>
        </p:nvSpPr>
        <p:spPr>
          <a:xfrm>
            <a:off x="731520" y="2304288"/>
            <a:ext cx="4572000" cy="1115568"/>
          </a:xfrm>
          <a:prstGeom prst="rect">
            <a:avLst/>
          </a:prstGeom>
          <a:noFill/>
        </p:spPr>
        <p:txBody>
          <a:bodyPr wrap="square" lIns="0" rIns="0" tIns="0" bIns="0">
            <a:spAutoFit/>
          </a:bodyPr>
          <a:lstStyle/>
          <a:p>
            <a:pPr algn="l">
              <a:spcAft>
                <a:spcPts val="300"/>
              </a:spcAft>
              <a:defRPr sz="5800" b="1">
                <a:solidFill>
                  <a:srgbClr val="167C88"/>
                </a:solidFill>
                <a:latin typeface="Segoe UI"/>
              </a:defRPr>
            </a:pPr>
            <a:r>
              <a:t>197 / 200</a:t>
            </a:r>
          </a:p>
        </p:txBody>
      </p:sp>
      <p:sp>
        <p:nvSpPr>
          <p:cNvPr id="8" name="TextBox 7"/>
          <p:cNvSpPr txBox="1"/>
          <p:nvPr/>
        </p:nvSpPr>
        <p:spPr>
          <a:xfrm>
            <a:off x="777240" y="3529584"/>
            <a:ext cx="4709160" cy="1527048"/>
          </a:xfrm>
          <a:prstGeom prst="rect">
            <a:avLst/>
          </a:prstGeom>
          <a:noFill/>
        </p:spPr>
        <p:txBody>
          <a:bodyPr wrap="square" lIns="0" rIns="0" tIns="0" bIns="0">
            <a:spAutoFit/>
          </a:bodyPr>
          <a:lstStyle/>
          <a:p>
            <a:pPr algn="l">
              <a:spcAft>
                <a:spcPts val="300"/>
              </a:spcAft>
              <a:defRPr sz="2100" b="0">
                <a:solidFill>
                  <a:srgbClr val="172F36"/>
                </a:solidFill>
                <a:latin typeface="Segoe UI"/>
              </a:defRPr>
            </a:pPr>
            <a:r>
              <a:t>When we changed our simulation assumptions 200 times, road cooling failure was the biggest contributor in 197 cases.</a:t>
            </a:r>
          </a:p>
        </p:txBody>
      </p:sp>
      <p:sp>
        <p:nvSpPr>
          <p:cNvPr id="9" name="Rectangle 8"/>
          <p:cNvSpPr/>
          <p:nvPr/>
        </p:nvSpPr>
        <p:spPr>
          <a:xfrm>
            <a:off x="786384" y="5248656"/>
            <a:ext cx="4389120" cy="109728"/>
          </a:xfrm>
          <a:prstGeom prst="rect">
            <a:avLst/>
          </a:prstGeom>
          <a:solidFill>
            <a:srgbClr val="DCE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6384" y="5248656"/>
            <a:ext cx="4323283" cy="109728"/>
          </a:xfrm>
          <a:prstGeom prst="rect">
            <a:avLst/>
          </a:prstGeom>
          <a:solidFill>
            <a:srgbClr val="167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5550408"/>
            <a:ext cx="4754880" cy="393192"/>
          </a:xfrm>
          <a:prstGeom prst="rect">
            <a:avLst/>
          </a:prstGeom>
          <a:noFill/>
        </p:spPr>
        <p:txBody>
          <a:bodyPr wrap="square" lIns="0" rIns="0" tIns="0" bIns="0">
            <a:spAutoFit/>
          </a:bodyPr>
          <a:lstStyle/>
          <a:p>
            <a:pPr algn="l">
              <a:spcAft>
                <a:spcPts val="300"/>
              </a:spcAft>
              <a:defRPr sz="1500" b="0">
                <a:solidFill>
                  <a:srgbClr val="5B6C72"/>
                </a:solidFill>
                <a:latin typeface="Segoe UI"/>
              </a:defRPr>
            </a:pPr>
            <a:r>
              <a:t>Air route · 2 °C comparison reference</a:t>
            </a:r>
          </a:p>
        </p:txBody>
      </p:sp>
      <p:cxnSp>
        <p:nvCxnSpPr>
          <p:cNvPr id="12" name="Connector 11"/>
          <p:cNvCxnSpPr/>
          <p:nvPr/>
        </p:nvCxnSpPr>
        <p:spPr>
          <a:xfrm>
            <a:off x="5989320" y="2423160"/>
            <a:ext cx="0" cy="3227832"/>
          </a:xfrm>
          <a:prstGeom prst="line">
            <a:avLst/>
          </a:prstGeom>
          <a:ln w="1270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28232" y="2441448"/>
            <a:ext cx="4736592" cy="786384"/>
          </a:xfrm>
          <a:prstGeom prst="rect">
            <a:avLst/>
          </a:prstGeom>
          <a:noFill/>
        </p:spPr>
        <p:txBody>
          <a:bodyPr wrap="square" lIns="0" rIns="0" tIns="0" bIns="0">
            <a:spAutoFit/>
          </a:bodyPr>
          <a:lstStyle/>
          <a:p>
            <a:pPr algn="l">
              <a:spcAft>
                <a:spcPts val="300"/>
              </a:spcAft>
              <a:defRPr sz="2700" b="1">
                <a:solidFill>
                  <a:srgbClr val="172F36"/>
                </a:solidFill>
                <a:latin typeface="Segoe UI"/>
              </a:defRPr>
            </a:pPr>
            <a:r>
              <a:t>The ranking is not universal.</a:t>
            </a:r>
          </a:p>
        </p:txBody>
      </p:sp>
      <p:sp>
        <p:nvSpPr>
          <p:cNvPr id="14" name="TextBox 13"/>
          <p:cNvSpPr txBox="1"/>
          <p:nvPr/>
        </p:nvSpPr>
        <p:spPr>
          <a:xfrm>
            <a:off x="6455664" y="3611880"/>
            <a:ext cx="4498848" cy="1389888"/>
          </a:xfrm>
          <a:prstGeom prst="rect">
            <a:avLst/>
          </a:prstGeom>
          <a:noFill/>
        </p:spPr>
        <p:txBody>
          <a:bodyPr wrap="square" lIns="0" rIns="0" tIns="0" bIns="0">
            <a:spAutoFit/>
          </a:bodyPr>
          <a:lstStyle/>
          <a:p>
            <a:pPr algn="l">
              <a:spcAft>
                <a:spcPts val="300"/>
              </a:spcAft>
              <a:defRPr sz="2300" b="0">
                <a:solidFill>
                  <a:srgbClr val="5B6C72"/>
                </a:solidFill>
                <a:latin typeface="Segoe UI"/>
              </a:defRPr>
            </a:pPr>
            <a:r>
              <a:t>It changed when we used equal-sized disruptions or changed the comparison temperature.</a:t>
            </a:r>
          </a:p>
        </p:txBody>
      </p:sp>
      <p:sp>
        <p:nvSpPr>
          <p:cNvPr id="15" name="TextBox 14"/>
          <p:cNvSpPr txBox="1"/>
          <p:nvPr/>
        </p:nvSpPr>
        <p:spPr>
          <a:xfrm>
            <a:off x="6455664" y="5257800"/>
            <a:ext cx="4553712" cy="722376"/>
          </a:xfrm>
          <a:prstGeom prst="rect">
            <a:avLst/>
          </a:prstGeom>
          <a:noFill/>
        </p:spPr>
        <p:txBody>
          <a:bodyPr wrap="square" lIns="0" rIns="0" tIns="0" bIns="0">
            <a:spAutoFit/>
          </a:bodyPr>
          <a:lstStyle/>
          <a:p>
            <a:pPr algn="l">
              <a:spcAft>
                <a:spcPts val="300"/>
              </a:spcAft>
              <a:defRPr sz="1500" b="0">
                <a:solidFill>
                  <a:srgbClr val="AC653B"/>
                </a:solidFill>
                <a:latin typeface="Segoe UI"/>
              </a:defRPr>
            </a:pPr>
            <a:r>
              <a:t>These are hypothetical assumption tests, not validation against real fish shipments.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594360" y="329184"/>
            <a:ext cx="10058400" cy="274320"/>
          </a:xfrm>
          <a:prstGeom prst="rect">
            <a:avLst/>
          </a:prstGeom>
          <a:noFill/>
        </p:spPr>
        <p:txBody>
          <a:bodyPr wrap="square" lIns="0" rIns="0" tIns="0" bIns="0">
            <a:spAutoFit/>
          </a:bodyPr>
          <a:lstStyle/>
          <a:p>
            <a:pPr algn="l">
              <a:spcAft>
                <a:spcPts val="300"/>
              </a:spcAft>
              <a:defRPr sz="1050" b="1">
                <a:solidFill>
                  <a:srgbClr val="5B6C72"/>
                </a:solidFill>
                <a:latin typeface="Segoe UI"/>
              </a:defRPr>
            </a:pPr>
            <a:r>
              <a:t>WHAT IT MEANS</a:t>
            </a:r>
          </a:p>
        </p:txBody>
      </p:sp>
      <p:cxnSp>
        <p:nvCxnSpPr>
          <p:cNvPr id="3" name="Connector 2"/>
          <p:cNvCxnSpPr/>
          <p:nvPr/>
        </p:nvCxnSpPr>
        <p:spPr>
          <a:xfrm>
            <a:off x="594360" y="6382512"/>
            <a:ext cx="11000232" cy="0"/>
          </a:xfrm>
          <a:prstGeom prst="line">
            <a:avLst/>
          </a:prstGeom>
          <a:ln w="1016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92240"/>
            <a:ext cx="8229600" cy="182880"/>
          </a:xfrm>
          <a:prstGeom prst="rect">
            <a:avLst/>
          </a:prstGeom>
          <a:noFill/>
        </p:spPr>
        <p:txBody>
          <a:bodyPr wrap="square" lIns="0" rIns="0" tIns="0" bIns="0">
            <a:spAutoFit/>
          </a:bodyPr>
          <a:lstStyle/>
          <a:p>
            <a:pPr algn="l">
              <a:spcAft>
                <a:spcPts val="300"/>
              </a:spcAft>
              <a:defRPr sz="900" b="0">
                <a:solidFill>
                  <a:srgbClr val="5B6C72"/>
                </a:solidFill>
                <a:latin typeface="Segoe UI"/>
              </a:defRPr>
            </a:pPr>
            <a:r>
              <a:t>INDIAN FISHERIES  /  COLD-CHAIN RESEARCH</a:t>
            </a:r>
          </a:p>
        </p:txBody>
      </p:sp>
      <p:sp>
        <p:nvSpPr>
          <p:cNvPr id="5" name="TextBox 4"/>
          <p:cNvSpPr txBox="1"/>
          <p:nvPr/>
        </p:nvSpPr>
        <p:spPr>
          <a:xfrm>
            <a:off x="11018520" y="6464808"/>
            <a:ext cx="566928" cy="228600"/>
          </a:xfrm>
          <a:prstGeom prst="rect">
            <a:avLst/>
          </a:prstGeom>
          <a:noFill/>
        </p:spPr>
        <p:txBody>
          <a:bodyPr wrap="square" lIns="0" rIns="0" tIns="0" bIns="0">
            <a:spAutoFit/>
          </a:bodyPr>
          <a:lstStyle/>
          <a:p>
            <a:pPr algn="r">
              <a:spcAft>
                <a:spcPts val="300"/>
              </a:spcAft>
              <a:defRPr sz="950" b="0">
                <a:solidFill>
                  <a:srgbClr val="5B6C72"/>
                </a:solidFill>
                <a:latin typeface="Segoe UI"/>
              </a:defRPr>
            </a:pPr>
            <a:r>
              <a:t>11 / 12</a:t>
            </a:r>
          </a:p>
        </p:txBody>
      </p:sp>
      <p:sp>
        <p:nvSpPr>
          <p:cNvPr id="6" name="TextBox 5"/>
          <p:cNvSpPr txBox="1"/>
          <p:nvPr/>
        </p:nvSpPr>
        <p:spPr>
          <a:xfrm>
            <a:off x="594360" y="832104"/>
            <a:ext cx="10927080" cy="1024128"/>
          </a:xfrm>
          <a:prstGeom prst="rect">
            <a:avLst/>
          </a:prstGeom>
          <a:noFill/>
        </p:spPr>
        <p:txBody>
          <a:bodyPr wrap="square" lIns="0" rIns="0" tIns="0" bIns="0">
            <a:spAutoFit/>
          </a:bodyPr>
          <a:lstStyle/>
          <a:p>
            <a:pPr algn="l">
              <a:spcAft>
                <a:spcPts val="300"/>
              </a:spcAft>
              <a:defRPr sz="3300" b="1">
                <a:solidFill>
                  <a:srgbClr val="172F36"/>
                </a:solidFill>
                <a:latin typeface="Segoe UI"/>
              </a:defRPr>
            </a:pPr>
            <a:r>
              <a:t>We can compare heat exposure.</a:t>
            </a:r>
          </a:p>
          <a:p>
            <a:pPr algn="l">
              <a:spcAft>
                <a:spcPts val="300"/>
              </a:spcAft>
              <a:defRPr sz="3300" b="1">
                <a:solidFill>
                  <a:srgbClr val="172F36"/>
                </a:solidFill>
                <a:latin typeface="Segoe UI"/>
              </a:defRPr>
            </a:pPr>
            <a:r>
              <a:t>Spoilage prediction needs more evidence.</a:t>
            </a:r>
          </a:p>
        </p:txBody>
      </p:sp>
      <p:sp>
        <p:nvSpPr>
          <p:cNvPr id="7" name="TextBox 6"/>
          <p:cNvSpPr txBox="1"/>
          <p:nvPr/>
        </p:nvSpPr>
        <p:spPr>
          <a:xfrm>
            <a:off x="731520" y="2523744"/>
            <a:ext cx="4983480" cy="356616"/>
          </a:xfrm>
          <a:prstGeom prst="rect">
            <a:avLst/>
          </a:prstGeom>
          <a:noFill/>
        </p:spPr>
        <p:txBody>
          <a:bodyPr wrap="square" lIns="0" rIns="0" tIns="0" bIns="0">
            <a:spAutoFit/>
          </a:bodyPr>
          <a:lstStyle/>
          <a:p>
            <a:pPr algn="l">
              <a:spcAft>
                <a:spcPts val="300"/>
              </a:spcAft>
              <a:defRPr sz="1200" b="1">
                <a:solidFill>
                  <a:srgbClr val="167C88"/>
                </a:solidFill>
                <a:latin typeface="Segoe UI"/>
              </a:defRPr>
            </a:pPr>
            <a:r>
              <a:t>AVAILABLE NOW</a:t>
            </a:r>
          </a:p>
        </p:txBody>
      </p:sp>
      <p:sp>
        <p:nvSpPr>
          <p:cNvPr id="8" name="TextBox 7"/>
          <p:cNvSpPr txBox="1"/>
          <p:nvPr/>
        </p:nvSpPr>
        <p:spPr>
          <a:xfrm>
            <a:off x="731520" y="3108960"/>
            <a:ext cx="4910328" cy="1810512"/>
          </a:xfrm>
          <a:prstGeom prst="rect">
            <a:avLst/>
          </a:prstGeom>
          <a:noFill/>
        </p:spPr>
        <p:txBody>
          <a:bodyPr wrap="square" lIns="0" rIns="0" tIns="0" bIns="0">
            <a:spAutoFit/>
          </a:bodyPr>
          <a:lstStyle/>
          <a:p>
            <a:pPr algn="l">
              <a:spcAft>
                <a:spcPts val="300"/>
              </a:spcAft>
              <a:defRPr sz="2300" b="0">
                <a:solidFill>
                  <a:srgbClr val="172F36"/>
                </a:solidFill>
                <a:latin typeface="Segoe UI"/>
              </a:defRPr>
            </a:pPr>
            <a:r>
              <a:t>Simulate a configured journey</a:t>
            </a:r>
          </a:p>
          <a:p>
            <a:pPr algn="l">
              <a:spcAft>
                <a:spcPts val="300"/>
              </a:spcAft>
              <a:defRPr sz="2300" b="0">
                <a:solidFill>
                  <a:srgbClr val="172F36"/>
                </a:solidFill>
                <a:latin typeface="Segoe UI"/>
              </a:defRPr>
            </a:pPr>
            <a:r>
              <a:t>Compare disruption effects</a:t>
            </a:r>
          </a:p>
          <a:p>
            <a:pPr algn="l">
              <a:spcAft>
                <a:spcPts val="300"/>
              </a:spcAft>
              <a:defRPr sz="2300" b="0">
                <a:solidFill>
                  <a:srgbClr val="172F36"/>
                </a:solidFill>
                <a:latin typeface="Segoe UI"/>
              </a:defRPr>
            </a:pPr>
            <a:r>
              <a:t>Inspect and download results</a:t>
            </a:r>
          </a:p>
        </p:txBody>
      </p:sp>
      <p:cxnSp>
        <p:nvCxnSpPr>
          <p:cNvPr id="9" name="Connector 8"/>
          <p:cNvCxnSpPr/>
          <p:nvPr/>
        </p:nvCxnSpPr>
        <p:spPr>
          <a:xfrm>
            <a:off x="5971032" y="2514600"/>
            <a:ext cx="0" cy="3191256"/>
          </a:xfrm>
          <a:prstGeom prst="line">
            <a:avLst/>
          </a:prstGeom>
          <a:ln w="12700">
            <a:solidFill>
              <a:srgbClr val="DCE3E1"/>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428232" y="2523744"/>
            <a:ext cx="4709160" cy="356616"/>
          </a:xfrm>
          <a:prstGeom prst="rect">
            <a:avLst/>
          </a:prstGeom>
          <a:noFill/>
        </p:spPr>
        <p:txBody>
          <a:bodyPr wrap="square" lIns="0" rIns="0" tIns="0" bIns="0">
            <a:spAutoFit/>
          </a:bodyPr>
          <a:lstStyle/>
          <a:p>
            <a:pPr algn="l">
              <a:spcAft>
                <a:spcPts val="300"/>
              </a:spcAft>
              <a:defRPr sz="1200" b="1">
                <a:solidFill>
                  <a:srgbClr val="AC653B"/>
                </a:solidFill>
                <a:latin typeface="Segoe UI"/>
              </a:defRPr>
            </a:pPr>
            <a:r>
              <a:t>NEEDED FOR SPOILAGE PREDICTION</a:t>
            </a:r>
          </a:p>
        </p:txBody>
      </p:sp>
      <p:sp>
        <p:nvSpPr>
          <p:cNvPr id="11" name="TextBox 10"/>
          <p:cNvSpPr txBox="1"/>
          <p:nvPr/>
        </p:nvSpPr>
        <p:spPr>
          <a:xfrm>
            <a:off x="6428232" y="3108960"/>
            <a:ext cx="4626864" cy="1874519"/>
          </a:xfrm>
          <a:prstGeom prst="rect">
            <a:avLst/>
          </a:prstGeom>
          <a:noFill/>
        </p:spPr>
        <p:txBody>
          <a:bodyPr wrap="square" lIns="0" rIns="0" tIns="0" bIns="0">
            <a:spAutoFit/>
          </a:bodyPr>
          <a:lstStyle/>
          <a:p>
            <a:pPr algn="l">
              <a:spcAft>
                <a:spcPts val="300"/>
              </a:spcAft>
              <a:defRPr sz="2300" b="0">
                <a:solidFill>
                  <a:srgbClr val="172F36"/>
                </a:solidFill>
                <a:latin typeface="Segoe UI"/>
              </a:defRPr>
            </a:pPr>
            <a:r>
              <a:t>Fish temperature and quality measured together</a:t>
            </a:r>
          </a:p>
          <a:p>
            <a:pPr algn="l">
              <a:spcAft>
                <a:spcPts val="300"/>
              </a:spcAft>
              <a:defRPr sz="2300" b="0">
                <a:solidFill>
                  <a:srgbClr val="172F36"/>
                </a:solidFill>
                <a:latin typeface="Segoe UI"/>
              </a:defRPr>
            </a:pPr>
            <a:r>
              <a:t>Independent shipment tests</a:t>
            </a:r>
          </a:p>
        </p:txBody>
      </p:sp>
      <p:sp>
        <p:nvSpPr>
          <p:cNvPr id="12" name="TextBox 11"/>
          <p:cNvSpPr txBox="1"/>
          <p:nvPr/>
        </p:nvSpPr>
        <p:spPr>
          <a:xfrm>
            <a:off x="749808" y="5760720"/>
            <a:ext cx="10607040" cy="338328"/>
          </a:xfrm>
          <a:prstGeom prst="rect">
            <a:avLst/>
          </a:prstGeom>
          <a:noFill/>
        </p:spPr>
        <p:txBody>
          <a:bodyPr wrap="square" lIns="0" rIns="0" tIns="0" bIns="0">
            <a:spAutoFit/>
          </a:bodyPr>
          <a:lstStyle/>
          <a:p>
            <a:pPr algn="l">
              <a:spcAft>
                <a:spcPts val="300"/>
              </a:spcAft>
              <a:defRPr sz="1400" b="0">
                <a:solidFill>
                  <a:srgbClr val="5B6C72"/>
                </a:solidFill>
                <a:latin typeface="Segoe UI"/>
              </a:defRPr>
            </a:pPr>
            <a:r>
              <a:t>The planned spoilage classifier has not been trained: specimen-matched labels are missing.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2F36"/>
        </a:solidFill>
        <a:effectLst/>
      </p:bgPr>
    </p:bg>
    <p:spTree>
      <p:nvGrpSpPr>
        <p:cNvPr id="1" name=""/>
        <p:cNvGrpSpPr/>
        <p:nvPr/>
      </p:nvGrpSpPr>
      <p:grpSpPr/>
      <p:sp>
        <p:nvSpPr>
          <p:cNvPr id="2" name="TextBox 1"/>
          <p:cNvSpPr txBox="1"/>
          <p:nvPr/>
        </p:nvSpPr>
        <p:spPr>
          <a:xfrm>
            <a:off x="594360" y="329184"/>
            <a:ext cx="10058400" cy="274320"/>
          </a:xfrm>
          <a:prstGeom prst="rect">
            <a:avLst/>
          </a:prstGeom>
          <a:noFill/>
        </p:spPr>
        <p:txBody>
          <a:bodyPr wrap="square" lIns="0" rIns="0" tIns="0" bIns="0">
            <a:spAutoFit/>
          </a:bodyPr>
          <a:lstStyle/>
          <a:p>
            <a:pPr algn="l">
              <a:spcAft>
                <a:spcPts val="300"/>
              </a:spcAft>
              <a:defRPr sz="1050" b="1">
                <a:solidFill>
                  <a:srgbClr val="ADBFBE"/>
                </a:solidFill>
                <a:latin typeface="Segoe UI"/>
              </a:defRPr>
            </a:pPr>
            <a:r>
              <a:t>CONCLUSION</a:t>
            </a:r>
          </a:p>
        </p:txBody>
      </p:sp>
      <p:cxnSp>
        <p:nvCxnSpPr>
          <p:cNvPr id="3" name="Connector 2"/>
          <p:cNvCxnSpPr/>
          <p:nvPr/>
        </p:nvCxnSpPr>
        <p:spPr>
          <a:xfrm>
            <a:off x="594360" y="6382512"/>
            <a:ext cx="11000232" cy="0"/>
          </a:xfrm>
          <a:prstGeom prst="line">
            <a:avLst/>
          </a:prstGeom>
          <a:ln w="10160">
            <a:solidFill>
              <a:srgbClr val="365057"/>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492240"/>
            <a:ext cx="8229600" cy="182880"/>
          </a:xfrm>
          <a:prstGeom prst="rect">
            <a:avLst/>
          </a:prstGeom>
          <a:noFill/>
        </p:spPr>
        <p:txBody>
          <a:bodyPr wrap="square" lIns="0" rIns="0" tIns="0" bIns="0">
            <a:spAutoFit/>
          </a:bodyPr>
          <a:lstStyle/>
          <a:p>
            <a:pPr algn="l">
              <a:spcAft>
                <a:spcPts val="300"/>
              </a:spcAft>
              <a:defRPr sz="900" b="0">
                <a:solidFill>
                  <a:srgbClr val="ADBFBE"/>
                </a:solidFill>
                <a:latin typeface="Segoe UI"/>
              </a:defRPr>
            </a:pPr>
            <a:r>
              <a:t>INDIAN FISHERIES  /  COLD-CHAIN RESEARCH</a:t>
            </a:r>
          </a:p>
        </p:txBody>
      </p:sp>
      <p:sp>
        <p:nvSpPr>
          <p:cNvPr id="5" name="TextBox 4"/>
          <p:cNvSpPr txBox="1"/>
          <p:nvPr/>
        </p:nvSpPr>
        <p:spPr>
          <a:xfrm>
            <a:off x="11018520" y="6464808"/>
            <a:ext cx="566928" cy="228600"/>
          </a:xfrm>
          <a:prstGeom prst="rect">
            <a:avLst/>
          </a:prstGeom>
          <a:noFill/>
        </p:spPr>
        <p:txBody>
          <a:bodyPr wrap="square" lIns="0" rIns="0" tIns="0" bIns="0">
            <a:spAutoFit/>
          </a:bodyPr>
          <a:lstStyle/>
          <a:p>
            <a:pPr algn="r">
              <a:spcAft>
                <a:spcPts val="300"/>
              </a:spcAft>
              <a:defRPr sz="950" b="0">
                <a:solidFill>
                  <a:srgbClr val="ADBFBE"/>
                </a:solidFill>
                <a:latin typeface="Segoe UI"/>
              </a:defRPr>
            </a:pPr>
            <a:r>
              <a:t>12 / 12</a:t>
            </a:r>
          </a:p>
        </p:txBody>
      </p:sp>
      <p:sp>
        <p:nvSpPr>
          <p:cNvPr id="6" name="TextBox 5"/>
          <p:cNvSpPr txBox="1"/>
          <p:nvPr/>
        </p:nvSpPr>
        <p:spPr>
          <a:xfrm>
            <a:off x="685800" y="1078992"/>
            <a:ext cx="10698480" cy="1417320"/>
          </a:xfrm>
          <a:prstGeom prst="rect">
            <a:avLst/>
          </a:prstGeom>
          <a:noFill/>
        </p:spPr>
        <p:txBody>
          <a:bodyPr wrap="square" lIns="0" rIns="0" tIns="0" bIns="0">
            <a:spAutoFit/>
          </a:bodyPr>
          <a:lstStyle/>
          <a:p>
            <a:pPr algn="l">
              <a:spcAft>
                <a:spcPts val="300"/>
              </a:spcAft>
              <a:defRPr sz="3700" b="1">
                <a:solidFill>
                  <a:srgbClr val="FFFFFF"/>
                </a:solidFill>
                <a:latin typeface="Segoe UI"/>
              </a:defRPr>
            </a:pPr>
            <a:r>
              <a:t>We built a working</a:t>
            </a:r>
          </a:p>
          <a:p>
            <a:pPr algn="l">
              <a:spcAft>
                <a:spcPts val="300"/>
              </a:spcAft>
              <a:defRPr sz="3700" b="1">
                <a:solidFill>
                  <a:srgbClr val="FFFFFF"/>
                </a:solidFill>
                <a:latin typeface="Segoe UI"/>
              </a:defRPr>
            </a:pPr>
            <a:r>
              <a:t>virtual cold chain.</a:t>
            </a:r>
          </a:p>
        </p:txBody>
      </p:sp>
      <p:sp>
        <p:nvSpPr>
          <p:cNvPr id="7" name="TextBox 6"/>
          <p:cNvSpPr txBox="1"/>
          <p:nvPr/>
        </p:nvSpPr>
        <p:spPr>
          <a:xfrm>
            <a:off x="722376" y="2724912"/>
            <a:ext cx="10561320" cy="493776"/>
          </a:xfrm>
          <a:prstGeom prst="rect">
            <a:avLst/>
          </a:prstGeom>
          <a:noFill/>
        </p:spPr>
        <p:txBody>
          <a:bodyPr wrap="square" lIns="0" rIns="0" tIns="0" bIns="0">
            <a:spAutoFit/>
          </a:bodyPr>
          <a:lstStyle/>
          <a:p>
            <a:pPr algn="l">
              <a:spcAft>
                <a:spcPts val="300"/>
              </a:spcAft>
              <a:defRPr sz="2400" b="0">
                <a:solidFill>
                  <a:srgbClr val="C7DCDA"/>
                </a:solidFill>
                <a:latin typeface="Segoe UI"/>
              </a:defRPr>
            </a:pPr>
            <a:r>
              <a:t>It identifies where simulated temperature exposure increases.</a:t>
            </a:r>
          </a:p>
        </p:txBody>
      </p:sp>
      <p:sp>
        <p:nvSpPr>
          <p:cNvPr id="8" name="TextBox 7"/>
          <p:cNvSpPr txBox="1"/>
          <p:nvPr/>
        </p:nvSpPr>
        <p:spPr>
          <a:xfrm>
            <a:off x="722376" y="3493008"/>
            <a:ext cx="10561320" cy="777240"/>
          </a:xfrm>
          <a:prstGeom prst="rect">
            <a:avLst/>
          </a:prstGeom>
          <a:noFill/>
        </p:spPr>
        <p:txBody>
          <a:bodyPr wrap="square" lIns="0" rIns="0" tIns="0" bIns="0">
            <a:spAutoFit/>
          </a:bodyPr>
          <a:lstStyle/>
          <a:p>
            <a:pPr algn="l">
              <a:spcAft>
                <a:spcPts val="300"/>
              </a:spcAft>
              <a:defRPr sz="2300" b="0">
                <a:solidFill>
                  <a:srgbClr val="C7DCDA"/>
                </a:solidFill>
                <a:latin typeface="Segoe UI"/>
              </a:defRPr>
            </a:pPr>
            <a:r>
              <a:t>The next step is connecting those simulations with real fish-quality measurements to predict spoilage.</a:t>
            </a:r>
          </a:p>
        </p:txBody>
      </p:sp>
      <p:cxnSp>
        <p:nvCxnSpPr>
          <p:cNvPr id="9" name="Connector 8"/>
          <p:cNvCxnSpPr/>
          <p:nvPr/>
        </p:nvCxnSpPr>
        <p:spPr>
          <a:xfrm>
            <a:off x="749808" y="4498848"/>
            <a:ext cx="3355848" cy="0"/>
          </a:xfrm>
          <a:prstGeom prst="line">
            <a:avLst/>
          </a:prstGeom>
          <a:ln w="12700">
            <a:solidFill>
              <a:srgbClr val="365057"/>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49808" y="4690872"/>
            <a:ext cx="548640" cy="292608"/>
          </a:xfrm>
          <a:prstGeom prst="rect">
            <a:avLst/>
          </a:prstGeom>
          <a:noFill/>
        </p:spPr>
        <p:txBody>
          <a:bodyPr wrap="square" lIns="0" rIns="0" tIns="0" bIns="0">
            <a:spAutoFit/>
          </a:bodyPr>
          <a:lstStyle/>
          <a:p>
            <a:pPr algn="l">
              <a:spcAft>
                <a:spcPts val="300"/>
              </a:spcAft>
              <a:defRPr sz="1200" b="1">
                <a:solidFill>
                  <a:srgbClr val="7EC4C0"/>
                </a:solidFill>
                <a:latin typeface="Segoe UI"/>
              </a:defRPr>
            </a:pPr>
            <a:r>
              <a:t>01</a:t>
            </a:r>
          </a:p>
        </p:txBody>
      </p:sp>
      <p:sp>
        <p:nvSpPr>
          <p:cNvPr id="11" name="TextBox 10"/>
          <p:cNvSpPr txBox="1"/>
          <p:nvPr/>
        </p:nvSpPr>
        <p:spPr>
          <a:xfrm>
            <a:off x="749808" y="5129784"/>
            <a:ext cx="3355848" cy="429768"/>
          </a:xfrm>
          <a:prstGeom prst="rect">
            <a:avLst/>
          </a:prstGeom>
          <a:noFill/>
        </p:spPr>
        <p:txBody>
          <a:bodyPr wrap="square" lIns="0" rIns="0" tIns="0" bIns="0">
            <a:spAutoFit/>
          </a:bodyPr>
          <a:lstStyle/>
          <a:p>
            <a:pPr algn="l">
              <a:spcAft>
                <a:spcPts val="300"/>
              </a:spcAft>
              <a:defRPr sz="2400" b="1">
                <a:solidFill>
                  <a:srgbClr val="FFFFFF"/>
                </a:solidFill>
                <a:latin typeface="Segoe UI"/>
              </a:defRPr>
            </a:pPr>
            <a:r>
              <a:t>Measure</a:t>
            </a:r>
          </a:p>
        </p:txBody>
      </p:sp>
      <p:sp>
        <p:nvSpPr>
          <p:cNvPr id="12" name="TextBox 11"/>
          <p:cNvSpPr txBox="1"/>
          <p:nvPr/>
        </p:nvSpPr>
        <p:spPr>
          <a:xfrm>
            <a:off x="749808" y="5660136"/>
            <a:ext cx="3401568" cy="548640"/>
          </a:xfrm>
          <a:prstGeom prst="rect">
            <a:avLst/>
          </a:prstGeom>
          <a:noFill/>
        </p:spPr>
        <p:txBody>
          <a:bodyPr wrap="square" lIns="0" rIns="0" tIns="0" bIns="0">
            <a:spAutoFit/>
          </a:bodyPr>
          <a:lstStyle/>
          <a:p>
            <a:pPr algn="l">
              <a:spcAft>
                <a:spcPts val="300"/>
              </a:spcAft>
              <a:defRPr sz="1500" b="0">
                <a:solidFill>
                  <a:srgbClr val="ADBFBE"/>
                </a:solidFill>
                <a:latin typeface="Segoe UI"/>
              </a:defRPr>
            </a:pPr>
            <a:r>
              <a:t>Collect paired fish-temperature and quality data.</a:t>
            </a:r>
          </a:p>
        </p:txBody>
      </p:sp>
      <p:cxnSp>
        <p:nvCxnSpPr>
          <p:cNvPr id="13" name="Connector 12"/>
          <p:cNvCxnSpPr/>
          <p:nvPr/>
        </p:nvCxnSpPr>
        <p:spPr>
          <a:xfrm>
            <a:off x="4581144" y="4498848"/>
            <a:ext cx="3355848" cy="0"/>
          </a:xfrm>
          <a:prstGeom prst="line">
            <a:avLst/>
          </a:prstGeom>
          <a:ln w="12700">
            <a:solidFill>
              <a:srgbClr val="365057"/>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81144" y="4690872"/>
            <a:ext cx="548640" cy="292608"/>
          </a:xfrm>
          <a:prstGeom prst="rect">
            <a:avLst/>
          </a:prstGeom>
          <a:noFill/>
        </p:spPr>
        <p:txBody>
          <a:bodyPr wrap="square" lIns="0" rIns="0" tIns="0" bIns="0">
            <a:spAutoFit/>
          </a:bodyPr>
          <a:lstStyle/>
          <a:p>
            <a:pPr algn="l">
              <a:spcAft>
                <a:spcPts val="300"/>
              </a:spcAft>
              <a:defRPr sz="1200" b="1">
                <a:solidFill>
                  <a:srgbClr val="7EC4C0"/>
                </a:solidFill>
                <a:latin typeface="Segoe UI"/>
              </a:defRPr>
            </a:pPr>
            <a:r>
              <a:t>02</a:t>
            </a:r>
          </a:p>
        </p:txBody>
      </p:sp>
      <p:sp>
        <p:nvSpPr>
          <p:cNvPr id="15" name="TextBox 14"/>
          <p:cNvSpPr txBox="1"/>
          <p:nvPr/>
        </p:nvSpPr>
        <p:spPr>
          <a:xfrm>
            <a:off x="4581144" y="5129784"/>
            <a:ext cx="3355848" cy="429768"/>
          </a:xfrm>
          <a:prstGeom prst="rect">
            <a:avLst/>
          </a:prstGeom>
          <a:noFill/>
        </p:spPr>
        <p:txBody>
          <a:bodyPr wrap="square" lIns="0" rIns="0" tIns="0" bIns="0">
            <a:spAutoFit/>
          </a:bodyPr>
          <a:lstStyle/>
          <a:p>
            <a:pPr algn="l">
              <a:spcAft>
                <a:spcPts val="300"/>
              </a:spcAft>
              <a:defRPr sz="2400" b="1">
                <a:solidFill>
                  <a:srgbClr val="FFFFFF"/>
                </a:solidFill>
                <a:latin typeface="Segoe UI"/>
              </a:defRPr>
            </a:pPr>
            <a:r>
              <a:t>Validate</a:t>
            </a:r>
          </a:p>
        </p:txBody>
      </p:sp>
      <p:sp>
        <p:nvSpPr>
          <p:cNvPr id="16" name="TextBox 15"/>
          <p:cNvSpPr txBox="1"/>
          <p:nvPr/>
        </p:nvSpPr>
        <p:spPr>
          <a:xfrm>
            <a:off x="4581144" y="5660136"/>
            <a:ext cx="3401568" cy="548640"/>
          </a:xfrm>
          <a:prstGeom prst="rect">
            <a:avLst/>
          </a:prstGeom>
          <a:noFill/>
        </p:spPr>
        <p:txBody>
          <a:bodyPr wrap="square" lIns="0" rIns="0" tIns="0" bIns="0">
            <a:spAutoFit/>
          </a:bodyPr>
          <a:lstStyle/>
          <a:p>
            <a:pPr algn="l">
              <a:spcAft>
                <a:spcPts val="300"/>
              </a:spcAft>
              <a:defRPr sz="1500" b="0">
                <a:solidFill>
                  <a:srgbClr val="ADBFBE"/>
                </a:solidFill>
                <a:latin typeface="Segoe UI"/>
              </a:defRPr>
            </a:pPr>
            <a:r>
              <a:t>Test on independent Indian export shipments.</a:t>
            </a:r>
          </a:p>
        </p:txBody>
      </p:sp>
      <p:cxnSp>
        <p:nvCxnSpPr>
          <p:cNvPr id="17" name="Connector 16"/>
          <p:cNvCxnSpPr/>
          <p:nvPr/>
        </p:nvCxnSpPr>
        <p:spPr>
          <a:xfrm>
            <a:off x="8412480" y="4498848"/>
            <a:ext cx="3355848" cy="0"/>
          </a:xfrm>
          <a:prstGeom prst="line">
            <a:avLst/>
          </a:prstGeom>
          <a:ln w="12700">
            <a:solidFill>
              <a:srgbClr val="365057"/>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412480" y="4690872"/>
            <a:ext cx="548640" cy="292608"/>
          </a:xfrm>
          <a:prstGeom prst="rect">
            <a:avLst/>
          </a:prstGeom>
          <a:noFill/>
        </p:spPr>
        <p:txBody>
          <a:bodyPr wrap="square" lIns="0" rIns="0" tIns="0" bIns="0">
            <a:spAutoFit/>
          </a:bodyPr>
          <a:lstStyle/>
          <a:p>
            <a:pPr algn="l">
              <a:spcAft>
                <a:spcPts val="300"/>
              </a:spcAft>
              <a:defRPr sz="1200" b="1">
                <a:solidFill>
                  <a:srgbClr val="7EC4C0"/>
                </a:solidFill>
                <a:latin typeface="Segoe UI"/>
              </a:defRPr>
            </a:pPr>
            <a:r>
              <a:t>03</a:t>
            </a:r>
          </a:p>
        </p:txBody>
      </p:sp>
      <p:sp>
        <p:nvSpPr>
          <p:cNvPr id="19" name="TextBox 18"/>
          <p:cNvSpPr txBox="1"/>
          <p:nvPr/>
        </p:nvSpPr>
        <p:spPr>
          <a:xfrm>
            <a:off x="8412480" y="5129784"/>
            <a:ext cx="3355848" cy="429768"/>
          </a:xfrm>
          <a:prstGeom prst="rect">
            <a:avLst/>
          </a:prstGeom>
          <a:noFill/>
        </p:spPr>
        <p:txBody>
          <a:bodyPr wrap="square" lIns="0" rIns="0" tIns="0" bIns="0">
            <a:spAutoFit/>
          </a:bodyPr>
          <a:lstStyle/>
          <a:p>
            <a:pPr algn="l">
              <a:spcAft>
                <a:spcPts val="300"/>
              </a:spcAft>
              <a:defRPr sz="2000" b="1">
                <a:solidFill>
                  <a:srgbClr val="FFFFFF"/>
                </a:solidFill>
                <a:latin typeface="Segoe UI"/>
              </a:defRPr>
            </a:pPr>
            <a:r>
              <a:t>Prepare research paper</a:t>
            </a:r>
          </a:p>
        </p:txBody>
      </p:sp>
      <p:sp>
        <p:nvSpPr>
          <p:cNvPr id="20" name="TextBox 19"/>
          <p:cNvSpPr txBox="1"/>
          <p:nvPr/>
        </p:nvSpPr>
        <p:spPr>
          <a:xfrm>
            <a:off x="8412480" y="5660136"/>
            <a:ext cx="3401568" cy="548640"/>
          </a:xfrm>
          <a:prstGeom prst="rect">
            <a:avLst/>
          </a:prstGeom>
          <a:noFill/>
        </p:spPr>
        <p:txBody>
          <a:bodyPr wrap="square" lIns="0" rIns="0" tIns="0" bIns="0">
            <a:spAutoFit/>
          </a:bodyPr>
          <a:lstStyle/>
          <a:p>
            <a:pPr algn="l">
              <a:spcAft>
                <a:spcPts val="300"/>
              </a:spcAft>
              <a:defRPr sz="1500" b="0">
                <a:solidFill>
                  <a:srgbClr val="ADBFBE"/>
                </a:solidFill>
                <a:latin typeface="Segoe UI"/>
              </a:defRPr>
            </a:pPr>
            <a:r>
              <a:t>Document findings and evidence limits.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Twin of Indian Fisheries Export Cold Chain for Spoilage Risk Prediction</dc:title>
  <dc:subject>A research prototype for comparing simulated cold-chain thermal exposure</dc:subject>
  <dc:creator>Cold-chain research project</dc:creator>
  <cp:keywords>cold chain, fisheries, digital twin, thermal exposure, simulation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